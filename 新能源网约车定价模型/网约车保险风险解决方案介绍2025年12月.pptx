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11091251" r:id="rId3"/>
    <p:sldId id="11091261" r:id="rId4"/>
    <p:sldId id="11091264" r:id="rId5"/>
    <p:sldId id="331" r:id="rId6"/>
    <p:sldId id="336" r:id="rId7"/>
    <p:sldId id="337" r:id="rId8"/>
    <p:sldId id="338" r:id="rId9"/>
    <p:sldId id="11091265" r:id="rId10"/>
    <p:sldId id="11091266" r:id="rId11"/>
    <p:sldId id="11091267" r:id="rId12"/>
    <p:sldId id="11091268" r:id="rId13"/>
    <p:sldId id="11091269" r:id="rId14"/>
    <p:sldId id="11091270" r:id="rId15"/>
    <p:sldId id="339" r:id="rId16"/>
    <p:sldId id="260" r:id="rId17"/>
  </p:sldIdLst>
  <p:sldSz cx="12192000" cy="6858000"/>
  <p:notesSz cx="6858000" cy="9144000"/>
  <p:custDataLst>
    <p:tags r:id="rId1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0" userDrawn="1">
          <p15:clr>
            <a:srgbClr val="A4A3A4"/>
          </p15:clr>
        </p15:guide>
        <p15:guide id="2" pos="7289" userDrawn="1">
          <p15:clr>
            <a:srgbClr val="A4A3A4"/>
          </p15:clr>
        </p15:guide>
        <p15:guide id="3" orient="horz" pos="673" userDrawn="1">
          <p15:clr>
            <a:srgbClr val="A4A3A4"/>
          </p15:clr>
        </p15:guide>
        <p15:guide id="4" orient="horz" pos="730" userDrawn="1">
          <p15:clr>
            <a:srgbClr val="A4A3A4"/>
          </p15:clr>
        </p15:guide>
        <p15:guide id="5" orient="horz" pos="3911" userDrawn="1">
          <p15:clr>
            <a:srgbClr val="A4A3A4"/>
          </p15:clr>
        </p15:guide>
        <p15:guide id="6" orient="horz" pos="38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66"/>
    <a:srgbClr val="FF9999"/>
    <a:srgbClr val="FF99CC"/>
    <a:srgbClr val="FF66CC"/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6" autoAdjust="0"/>
    <p:restoredTop sz="86451" autoAdjust="0"/>
  </p:normalViewPr>
  <p:slideViewPr>
    <p:cSldViewPr snapToGrid="0" showGuides="1">
      <p:cViewPr varScale="1">
        <p:scale>
          <a:sx n="58" d="100"/>
          <a:sy n="58" d="100"/>
        </p:scale>
        <p:origin x="988" y="52"/>
      </p:cViewPr>
      <p:guideLst>
        <p:guide pos="390"/>
        <p:guide pos="7289"/>
        <p:guide orient="horz" pos="673"/>
        <p:guide orient="horz" pos="730"/>
        <p:guide orient="horz" pos="3911"/>
        <p:guide orient="horz" pos="38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6" d="100"/>
          <a:sy n="56" d="100"/>
        </p:scale>
        <p:origin x="1653" y="51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50AADD-F9F0-4C28-A136-DC03186C677F}" type="doc">
      <dgm:prSet loTypeId="urn:microsoft.com/office/officeart/2005/8/layout/cycle7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zh-CN" altLang="en-US"/>
        </a:p>
      </dgm:t>
    </dgm:pt>
    <dgm:pt modelId="{622B4A74-1FE5-45FE-AB7E-6A9ACC423F5D}">
      <dgm:prSet phldrT="[文本]"/>
      <dgm:spPr/>
      <dgm:t>
        <a:bodyPr/>
        <a:lstStyle/>
        <a:p>
          <a:r>
            <a:rPr lang="zh-CN" altLang="en-US" dirty="0"/>
            <a:t>保险公司</a:t>
          </a:r>
        </a:p>
      </dgm:t>
    </dgm:pt>
    <dgm:pt modelId="{3146A998-04C0-48E1-8860-9EFE686B2683}" type="parTrans" cxnId="{39144486-5982-4DE4-BA8F-FB328242678A}">
      <dgm:prSet/>
      <dgm:spPr/>
      <dgm:t>
        <a:bodyPr/>
        <a:lstStyle/>
        <a:p>
          <a:endParaRPr lang="zh-CN" altLang="en-US"/>
        </a:p>
      </dgm:t>
    </dgm:pt>
    <dgm:pt modelId="{8E89A881-D3B1-4940-A5CA-5190586ED4CF}" type="sibTrans" cxnId="{39144486-5982-4DE4-BA8F-FB328242678A}">
      <dgm:prSet/>
      <dgm:spPr/>
      <dgm:t>
        <a:bodyPr/>
        <a:lstStyle/>
        <a:p>
          <a:endParaRPr lang="zh-CN" altLang="en-US"/>
        </a:p>
      </dgm:t>
    </dgm:pt>
    <dgm:pt modelId="{68B00D47-486E-4E05-A329-2526D7D08F1D}">
      <dgm:prSet phldrT="[文本]"/>
      <dgm:spPr/>
      <dgm:t>
        <a:bodyPr/>
        <a:lstStyle/>
        <a:p>
          <a:r>
            <a:rPr lang="zh-CN" altLang="en-US" dirty="0"/>
            <a:t>四川车联</a:t>
          </a:r>
        </a:p>
      </dgm:t>
    </dgm:pt>
    <dgm:pt modelId="{7ECE30EA-DA7A-421B-8B81-2A42E1C0E6E1}" type="parTrans" cxnId="{49DD3715-CACB-48C1-8188-974DF4D2DD07}">
      <dgm:prSet/>
      <dgm:spPr/>
      <dgm:t>
        <a:bodyPr/>
        <a:lstStyle/>
        <a:p>
          <a:endParaRPr lang="zh-CN" altLang="en-US"/>
        </a:p>
      </dgm:t>
    </dgm:pt>
    <dgm:pt modelId="{8E27AF40-C643-474C-94FC-60E7E5778AAB}" type="sibTrans" cxnId="{49DD3715-CACB-48C1-8188-974DF4D2DD07}">
      <dgm:prSet/>
      <dgm:spPr/>
      <dgm:t>
        <a:bodyPr/>
        <a:lstStyle/>
        <a:p>
          <a:endParaRPr lang="zh-CN" altLang="en-US"/>
        </a:p>
      </dgm:t>
    </dgm:pt>
    <dgm:pt modelId="{00B0F623-2E53-4C4F-A784-37E3A3BC841F}">
      <dgm:prSet phldrT="[文本]"/>
      <dgm:spPr/>
      <dgm:t>
        <a:bodyPr/>
        <a:lstStyle/>
        <a:p>
          <a:r>
            <a:rPr lang="zh-CN" altLang="en-US" dirty="0"/>
            <a:t>智车睿控</a:t>
          </a:r>
        </a:p>
      </dgm:t>
    </dgm:pt>
    <dgm:pt modelId="{2E101855-11F7-4010-8975-275E45B0A857}" type="parTrans" cxnId="{6D7FE1FD-CB22-44DD-A0F1-EDD86F36D7C0}">
      <dgm:prSet/>
      <dgm:spPr/>
      <dgm:t>
        <a:bodyPr/>
        <a:lstStyle/>
        <a:p>
          <a:endParaRPr lang="zh-CN" altLang="en-US"/>
        </a:p>
      </dgm:t>
    </dgm:pt>
    <dgm:pt modelId="{D419B113-6987-45EB-8914-25D6851A6C26}" type="sibTrans" cxnId="{6D7FE1FD-CB22-44DD-A0F1-EDD86F36D7C0}">
      <dgm:prSet/>
      <dgm:spPr/>
      <dgm:t>
        <a:bodyPr/>
        <a:lstStyle/>
        <a:p>
          <a:endParaRPr lang="zh-CN" altLang="en-US"/>
        </a:p>
      </dgm:t>
    </dgm:pt>
    <dgm:pt modelId="{0BDDDA4A-357C-4AA7-8B19-356A67264407}" type="pres">
      <dgm:prSet presAssocID="{F150AADD-F9F0-4C28-A136-DC03186C677F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46CC1FA4-D27B-4EE6-9C42-52B3DA0CF4DB}" type="pres">
      <dgm:prSet presAssocID="{622B4A74-1FE5-45FE-AB7E-6A9ACC423F5D}" presName="node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813D81E2-AB8C-4690-9999-A5F9D14A7B11}" type="pres">
      <dgm:prSet presAssocID="{8E89A881-D3B1-4940-A5CA-5190586ED4CF}" presName="sibTrans" presStyleLbl="sibTrans2D1" presStyleIdx="0" presStyleCnt="3"/>
      <dgm:spPr/>
      <dgm:t>
        <a:bodyPr/>
        <a:lstStyle/>
        <a:p>
          <a:endParaRPr lang="zh-CN" altLang="en-US"/>
        </a:p>
      </dgm:t>
    </dgm:pt>
    <dgm:pt modelId="{B5BC1CE8-F6C5-4E2D-8BEC-FFA900F294E1}" type="pres">
      <dgm:prSet presAssocID="{8E89A881-D3B1-4940-A5CA-5190586ED4CF}" presName="connectorText" presStyleLbl="sibTrans2D1" presStyleIdx="0" presStyleCnt="3"/>
      <dgm:spPr/>
      <dgm:t>
        <a:bodyPr/>
        <a:lstStyle/>
        <a:p>
          <a:endParaRPr lang="zh-CN" altLang="en-US"/>
        </a:p>
      </dgm:t>
    </dgm:pt>
    <dgm:pt modelId="{4A41CBAA-C250-4255-B24E-AF57D64C1290}" type="pres">
      <dgm:prSet presAssocID="{68B00D47-486E-4E05-A329-2526D7D08F1D}" presName="node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E8C1EB-B56C-47A5-8E32-D255F118165A}" type="pres">
      <dgm:prSet presAssocID="{8E27AF40-C643-474C-94FC-60E7E5778AAB}" presName="sibTrans" presStyleLbl="sibTrans2D1" presStyleIdx="1" presStyleCnt="3"/>
      <dgm:spPr/>
      <dgm:t>
        <a:bodyPr/>
        <a:lstStyle/>
        <a:p>
          <a:endParaRPr lang="zh-CN" altLang="en-US"/>
        </a:p>
      </dgm:t>
    </dgm:pt>
    <dgm:pt modelId="{B35EDBB1-50DD-445E-8D4D-9120C94A02ED}" type="pres">
      <dgm:prSet presAssocID="{8E27AF40-C643-474C-94FC-60E7E5778AAB}" presName="connectorText" presStyleLbl="sibTrans2D1" presStyleIdx="1" presStyleCnt="3"/>
      <dgm:spPr/>
      <dgm:t>
        <a:bodyPr/>
        <a:lstStyle/>
        <a:p>
          <a:endParaRPr lang="zh-CN" altLang="en-US"/>
        </a:p>
      </dgm:t>
    </dgm:pt>
    <dgm:pt modelId="{59F100DB-2167-4DA6-9A6D-247FF7A1E54C}" type="pres">
      <dgm:prSet presAssocID="{00B0F623-2E53-4C4F-A784-37E3A3BC841F}" presName="node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0C0B5124-26F8-42F3-BED9-C22EB19349DC}" type="pres">
      <dgm:prSet presAssocID="{D419B113-6987-45EB-8914-25D6851A6C26}" presName="sibTrans" presStyleLbl="sibTrans2D1" presStyleIdx="2" presStyleCnt="3"/>
      <dgm:spPr/>
      <dgm:t>
        <a:bodyPr/>
        <a:lstStyle/>
        <a:p>
          <a:endParaRPr lang="zh-CN" altLang="en-US"/>
        </a:p>
      </dgm:t>
    </dgm:pt>
    <dgm:pt modelId="{FF71B0B3-2F31-4E28-9442-E961C6080ACE}" type="pres">
      <dgm:prSet presAssocID="{D419B113-6987-45EB-8914-25D6851A6C26}" presName="connectorText" presStyleLbl="sibTrans2D1" presStyleIdx="2" presStyleCnt="3"/>
      <dgm:spPr/>
      <dgm:t>
        <a:bodyPr/>
        <a:lstStyle/>
        <a:p>
          <a:endParaRPr lang="zh-CN" altLang="en-US"/>
        </a:p>
      </dgm:t>
    </dgm:pt>
  </dgm:ptLst>
  <dgm:cxnLst>
    <dgm:cxn modelId="{BAA6CCB0-8EEF-4D03-A008-300261323518}" type="presOf" srcId="{8E89A881-D3B1-4940-A5CA-5190586ED4CF}" destId="{813D81E2-AB8C-4690-9999-A5F9D14A7B11}" srcOrd="0" destOrd="0" presId="urn:microsoft.com/office/officeart/2005/8/layout/cycle7"/>
    <dgm:cxn modelId="{16910928-782E-440A-BC94-D9BA966D0005}" type="presOf" srcId="{D419B113-6987-45EB-8914-25D6851A6C26}" destId="{0C0B5124-26F8-42F3-BED9-C22EB19349DC}" srcOrd="0" destOrd="0" presId="urn:microsoft.com/office/officeart/2005/8/layout/cycle7"/>
    <dgm:cxn modelId="{752BD007-6FB7-409B-AE70-71C4B4967B51}" type="presOf" srcId="{D419B113-6987-45EB-8914-25D6851A6C26}" destId="{FF71B0B3-2F31-4E28-9442-E961C6080ACE}" srcOrd="1" destOrd="0" presId="urn:microsoft.com/office/officeart/2005/8/layout/cycle7"/>
    <dgm:cxn modelId="{4B227950-C0AA-4D2C-88FC-73CF906625DF}" type="presOf" srcId="{8E27AF40-C643-474C-94FC-60E7E5778AAB}" destId="{BAE8C1EB-B56C-47A5-8E32-D255F118165A}" srcOrd="0" destOrd="0" presId="urn:microsoft.com/office/officeart/2005/8/layout/cycle7"/>
    <dgm:cxn modelId="{4D5E3424-4CC8-44B9-9324-FA973ACC3B31}" type="presOf" srcId="{8E27AF40-C643-474C-94FC-60E7E5778AAB}" destId="{B35EDBB1-50DD-445E-8D4D-9120C94A02ED}" srcOrd="1" destOrd="0" presId="urn:microsoft.com/office/officeart/2005/8/layout/cycle7"/>
    <dgm:cxn modelId="{6D7FE1FD-CB22-44DD-A0F1-EDD86F36D7C0}" srcId="{F150AADD-F9F0-4C28-A136-DC03186C677F}" destId="{00B0F623-2E53-4C4F-A784-37E3A3BC841F}" srcOrd="2" destOrd="0" parTransId="{2E101855-11F7-4010-8975-275E45B0A857}" sibTransId="{D419B113-6987-45EB-8914-25D6851A6C26}"/>
    <dgm:cxn modelId="{0C8C04DE-3D3B-4D5E-A483-6C665803019B}" type="presOf" srcId="{8E89A881-D3B1-4940-A5CA-5190586ED4CF}" destId="{B5BC1CE8-F6C5-4E2D-8BEC-FFA900F294E1}" srcOrd="1" destOrd="0" presId="urn:microsoft.com/office/officeart/2005/8/layout/cycle7"/>
    <dgm:cxn modelId="{39144486-5982-4DE4-BA8F-FB328242678A}" srcId="{F150AADD-F9F0-4C28-A136-DC03186C677F}" destId="{622B4A74-1FE5-45FE-AB7E-6A9ACC423F5D}" srcOrd="0" destOrd="0" parTransId="{3146A998-04C0-48E1-8860-9EFE686B2683}" sibTransId="{8E89A881-D3B1-4940-A5CA-5190586ED4CF}"/>
    <dgm:cxn modelId="{15704499-B88A-420F-9237-54EE1D4258A7}" type="presOf" srcId="{622B4A74-1FE5-45FE-AB7E-6A9ACC423F5D}" destId="{46CC1FA4-D27B-4EE6-9C42-52B3DA0CF4DB}" srcOrd="0" destOrd="0" presId="urn:microsoft.com/office/officeart/2005/8/layout/cycle7"/>
    <dgm:cxn modelId="{49DD3715-CACB-48C1-8188-974DF4D2DD07}" srcId="{F150AADD-F9F0-4C28-A136-DC03186C677F}" destId="{68B00D47-486E-4E05-A329-2526D7D08F1D}" srcOrd="1" destOrd="0" parTransId="{7ECE30EA-DA7A-421B-8B81-2A42E1C0E6E1}" sibTransId="{8E27AF40-C643-474C-94FC-60E7E5778AAB}"/>
    <dgm:cxn modelId="{3C419DB6-8500-4745-A558-941533D59286}" type="presOf" srcId="{68B00D47-486E-4E05-A329-2526D7D08F1D}" destId="{4A41CBAA-C250-4255-B24E-AF57D64C1290}" srcOrd="0" destOrd="0" presId="urn:microsoft.com/office/officeart/2005/8/layout/cycle7"/>
    <dgm:cxn modelId="{EAD1DDBE-C067-4015-BEF4-68C5223F100B}" type="presOf" srcId="{00B0F623-2E53-4C4F-A784-37E3A3BC841F}" destId="{59F100DB-2167-4DA6-9A6D-247FF7A1E54C}" srcOrd="0" destOrd="0" presId="urn:microsoft.com/office/officeart/2005/8/layout/cycle7"/>
    <dgm:cxn modelId="{CC771F44-DAD4-4C0D-AC2D-351481B3FA76}" type="presOf" srcId="{F150AADD-F9F0-4C28-A136-DC03186C677F}" destId="{0BDDDA4A-357C-4AA7-8B19-356A67264407}" srcOrd="0" destOrd="0" presId="urn:microsoft.com/office/officeart/2005/8/layout/cycle7"/>
    <dgm:cxn modelId="{8CD3C478-5A99-4CB6-A9A8-AC501853C439}" type="presParOf" srcId="{0BDDDA4A-357C-4AA7-8B19-356A67264407}" destId="{46CC1FA4-D27B-4EE6-9C42-52B3DA0CF4DB}" srcOrd="0" destOrd="0" presId="urn:microsoft.com/office/officeart/2005/8/layout/cycle7"/>
    <dgm:cxn modelId="{C0638C53-BE0F-4B87-ABE0-67B751B61C06}" type="presParOf" srcId="{0BDDDA4A-357C-4AA7-8B19-356A67264407}" destId="{813D81E2-AB8C-4690-9999-A5F9D14A7B11}" srcOrd="1" destOrd="0" presId="urn:microsoft.com/office/officeart/2005/8/layout/cycle7"/>
    <dgm:cxn modelId="{C701A93B-893E-4C60-9E8B-499AF14FD238}" type="presParOf" srcId="{813D81E2-AB8C-4690-9999-A5F9D14A7B11}" destId="{B5BC1CE8-F6C5-4E2D-8BEC-FFA900F294E1}" srcOrd="0" destOrd="0" presId="urn:microsoft.com/office/officeart/2005/8/layout/cycle7"/>
    <dgm:cxn modelId="{AF105BE4-02CF-434F-9ABE-752CD9F6E5D8}" type="presParOf" srcId="{0BDDDA4A-357C-4AA7-8B19-356A67264407}" destId="{4A41CBAA-C250-4255-B24E-AF57D64C1290}" srcOrd="2" destOrd="0" presId="urn:microsoft.com/office/officeart/2005/8/layout/cycle7"/>
    <dgm:cxn modelId="{EBA0DBED-E801-4D6B-9CAB-9C590F4B044A}" type="presParOf" srcId="{0BDDDA4A-357C-4AA7-8B19-356A67264407}" destId="{BAE8C1EB-B56C-47A5-8E32-D255F118165A}" srcOrd="3" destOrd="0" presId="urn:microsoft.com/office/officeart/2005/8/layout/cycle7"/>
    <dgm:cxn modelId="{03F31036-D181-48A2-95FB-3075B6783E34}" type="presParOf" srcId="{BAE8C1EB-B56C-47A5-8E32-D255F118165A}" destId="{B35EDBB1-50DD-445E-8D4D-9120C94A02ED}" srcOrd="0" destOrd="0" presId="urn:microsoft.com/office/officeart/2005/8/layout/cycle7"/>
    <dgm:cxn modelId="{C30666F4-7BE2-40B5-A6A3-F7D92BAA56F9}" type="presParOf" srcId="{0BDDDA4A-357C-4AA7-8B19-356A67264407}" destId="{59F100DB-2167-4DA6-9A6D-247FF7A1E54C}" srcOrd="4" destOrd="0" presId="urn:microsoft.com/office/officeart/2005/8/layout/cycle7"/>
    <dgm:cxn modelId="{26C38C5E-F568-4B1A-8D8B-D78E41DEACAB}" type="presParOf" srcId="{0BDDDA4A-357C-4AA7-8B19-356A67264407}" destId="{0C0B5124-26F8-42F3-BED9-C22EB19349DC}" srcOrd="5" destOrd="0" presId="urn:microsoft.com/office/officeart/2005/8/layout/cycle7"/>
    <dgm:cxn modelId="{6F104B7D-89D4-4DC4-AC68-B5378A91FBB6}" type="presParOf" srcId="{0C0B5124-26F8-42F3-BED9-C22EB19349DC}" destId="{FF71B0B3-2F31-4E28-9442-E961C6080ACE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CC1FA4-D27B-4EE6-9C42-52B3DA0CF4DB}">
      <dsp:nvSpPr>
        <dsp:cNvPr id="0" name=""/>
        <dsp:cNvSpPr/>
      </dsp:nvSpPr>
      <dsp:spPr>
        <a:xfrm>
          <a:off x="2109799" y="74"/>
          <a:ext cx="1756707" cy="87835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900" kern="1200" dirty="0"/>
            <a:t>保险公司</a:t>
          </a:r>
        </a:p>
      </dsp:txBody>
      <dsp:txXfrm>
        <a:off x="2135525" y="25800"/>
        <a:ext cx="1705255" cy="826901"/>
      </dsp:txXfrm>
    </dsp:sp>
    <dsp:sp modelId="{813D81E2-AB8C-4690-9999-A5F9D14A7B11}">
      <dsp:nvSpPr>
        <dsp:cNvPr id="0" name=""/>
        <dsp:cNvSpPr/>
      </dsp:nvSpPr>
      <dsp:spPr>
        <a:xfrm rot="3600000">
          <a:off x="3254943" y="1543854"/>
          <a:ext cx="919398" cy="30742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>
        <a:off x="3347170" y="1605339"/>
        <a:ext cx="734944" cy="184453"/>
      </dsp:txXfrm>
    </dsp:sp>
    <dsp:sp modelId="{4A41CBAA-C250-4255-B24E-AF57D64C1290}">
      <dsp:nvSpPr>
        <dsp:cNvPr id="0" name=""/>
        <dsp:cNvSpPr/>
      </dsp:nvSpPr>
      <dsp:spPr>
        <a:xfrm>
          <a:off x="3562777" y="2516705"/>
          <a:ext cx="1756707" cy="878353"/>
        </a:xfrm>
        <a:prstGeom prst="roundRect">
          <a:avLst>
            <a:gd name="adj" fmla="val 10000"/>
          </a:avLst>
        </a:prstGeom>
        <a:solidFill>
          <a:schemeClr val="accent3">
            <a:hueOff val="-262222"/>
            <a:satOff val="-2525"/>
            <a:lumOff val="676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900" kern="1200" dirty="0"/>
            <a:t>四川车联</a:t>
          </a:r>
        </a:p>
      </dsp:txBody>
      <dsp:txXfrm>
        <a:off x="3588503" y="2542431"/>
        <a:ext cx="1705255" cy="826901"/>
      </dsp:txXfrm>
    </dsp:sp>
    <dsp:sp modelId="{BAE8C1EB-B56C-47A5-8E32-D255F118165A}">
      <dsp:nvSpPr>
        <dsp:cNvPr id="0" name=""/>
        <dsp:cNvSpPr/>
      </dsp:nvSpPr>
      <dsp:spPr>
        <a:xfrm rot="10800000">
          <a:off x="2528454" y="2802170"/>
          <a:ext cx="919398" cy="30742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hueOff val="-262222"/>
            <a:satOff val="-2525"/>
            <a:lumOff val="6764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 rot="10800000">
        <a:off x="2620681" y="2863655"/>
        <a:ext cx="734944" cy="184453"/>
      </dsp:txXfrm>
    </dsp:sp>
    <dsp:sp modelId="{59F100DB-2167-4DA6-9A6D-247FF7A1E54C}">
      <dsp:nvSpPr>
        <dsp:cNvPr id="0" name=""/>
        <dsp:cNvSpPr/>
      </dsp:nvSpPr>
      <dsp:spPr>
        <a:xfrm>
          <a:off x="656822" y="2516705"/>
          <a:ext cx="1756707" cy="878353"/>
        </a:xfrm>
        <a:prstGeom prst="roundRect">
          <a:avLst>
            <a:gd name="adj" fmla="val 10000"/>
          </a:avLst>
        </a:prstGeom>
        <a:solidFill>
          <a:schemeClr val="accent3">
            <a:hueOff val="-524444"/>
            <a:satOff val="-5051"/>
            <a:lumOff val="13529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900" kern="1200" dirty="0"/>
            <a:t>智车睿控</a:t>
          </a:r>
        </a:p>
      </dsp:txBody>
      <dsp:txXfrm>
        <a:off x="682548" y="2542431"/>
        <a:ext cx="1705255" cy="826901"/>
      </dsp:txXfrm>
    </dsp:sp>
    <dsp:sp modelId="{0C0B5124-26F8-42F3-BED9-C22EB19349DC}">
      <dsp:nvSpPr>
        <dsp:cNvPr id="0" name=""/>
        <dsp:cNvSpPr/>
      </dsp:nvSpPr>
      <dsp:spPr>
        <a:xfrm rot="18000000">
          <a:off x="1801965" y="1543854"/>
          <a:ext cx="919398" cy="307423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hueOff val="-524444"/>
            <a:satOff val="-5051"/>
            <a:lumOff val="13529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400" kern="1200"/>
        </a:p>
      </dsp:txBody>
      <dsp:txXfrm>
        <a:off x="1894192" y="1605339"/>
        <a:ext cx="734944" cy="1844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BB54BE-39F6-4FA7-A0D0-648C259FF648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FC9274-1CC2-4654-AC57-7198CD69F18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FC9274-1CC2-4654-AC57-7198CD69F18A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26BF0-6298-339C-D874-4D4250930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F0999A9-82F9-E3C2-576C-2A3EAB2277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C11A6D-EA66-00AB-F1F0-03FF12D46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434856-E364-C79B-7D22-30C82CD1C6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171873-B492-442D-AE3E-07327C174B9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61462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4677513" y="1"/>
            <a:ext cx="7526685" cy="6889579"/>
            <a:chOff x="4677513" y="1"/>
            <a:chExt cx="7526685" cy="6889579"/>
          </a:xfrm>
        </p:grpSpPr>
        <p:sp>
          <p:nvSpPr>
            <p:cNvPr id="10" name="任意多边形: 形状 9"/>
            <p:cNvSpPr/>
            <p:nvPr/>
          </p:nvSpPr>
          <p:spPr>
            <a:xfrm>
              <a:off x="10770221" y="1"/>
              <a:ext cx="1421779" cy="2203153"/>
            </a:xfrm>
            <a:custGeom>
              <a:avLst/>
              <a:gdLst>
                <a:gd name="connsiteX0" fmla="*/ 352293 w 1421779"/>
                <a:gd name="connsiteY0" fmla="*/ 0 h 2203153"/>
                <a:gd name="connsiteX1" fmla="*/ 1421779 w 1421779"/>
                <a:gd name="connsiteY1" fmla="*/ 0 h 2203153"/>
                <a:gd name="connsiteX2" fmla="*/ 1421779 w 1421779"/>
                <a:gd name="connsiteY2" fmla="*/ 2203153 h 2203153"/>
                <a:gd name="connsiteX3" fmla="*/ 1329145 w 1421779"/>
                <a:gd name="connsiteY3" fmla="*/ 2175812 h 2203153"/>
                <a:gd name="connsiteX4" fmla="*/ 1102165 w 1421779"/>
                <a:gd name="connsiteY4" fmla="*/ 2025247 h 2203153"/>
                <a:gd name="connsiteX5" fmla="*/ 200799 w 1421779"/>
                <a:gd name="connsiteY5" fmla="*/ 1123881 h 2203153"/>
                <a:gd name="connsiteX6" fmla="*/ 200799 w 1421779"/>
                <a:gd name="connsiteY6" fmla="*/ 151119 h 220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1779" h="2203153">
                  <a:moveTo>
                    <a:pt x="352293" y="0"/>
                  </a:moveTo>
                  <a:lnTo>
                    <a:pt x="1421779" y="0"/>
                  </a:lnTo>
                  <a:lnTo>
                    <a:pt x="1421779" y="2203153"/>
                  </a:lnTo>
                  <a:lnTo>
                    <a:pt x="1329145" y="2175812"/>
                  </a:lnTo>
                  <a:cubicBezTo>
                    <a:pt x="1246490" y="2142380"/>
                    <a:pt x="1169098" y="2092180"/>
                    <a:pt x="1102165" y="2025247"/>
                  </a:cubicBezTo>
                  <a:lnTo>
                    <a:pt x="200799" y="1123881"/>
                  </a:lnTo>
                  <a:cubicBezTo>
                    <a:pt x="-66933" y="856148"/>
                    <a:pt x="-66933" y="421083"/>
                    <a:pt x="200799" y="151119"/>
                  </a:cubicBezTo>
                  <a:close/>
                </a:path>
              </a:pathLst>
            </a:custGeom>
            <a:gradFill>
              <a:gsLst>
                <a:gs pos="70000">
                  <a:schemeClr val="accent4"/>
                </a:gs>
                <a:gs pos="0">
                  <a:schemeClr val="accent4">
                    <a:lumMod val="20000"/>
                    <a:lumOff val="80000"/>
                  </a:schemeClr>
                </a:gs>
                <a:gs pos="100000">
                  <a:schemeClr val="accent4"/>
                </a:gs>
              </a:gsLst>
              <a:lin ang="5400000" scaled="1"/>
            </a:gra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10818347" y="3038180"/>
              <a:ext cx="1373653" cy="3100729"/>
            </a:xfrm>
            <a:custGeom>
              <a:avLst/>
              <a:gdLst>
                <a:gd name="connsiteX0" fmla="*/ 1373653 w 1373653"/>
                <a:gd name="connsiteY0" fmla="*/ 0 h 3100729"/>
                <a:gd name="connsiteX1" fmla="*/ 1373653 w 1373653"/>
                <a:gd name="connsiteY1" fmla="*/ 3100729 h 3100729"/>
                <a:gd name="connsiteX2" fmla="*/ 1329145 w 1373653"/>
                <a:gd name="connsiteY2" fmla="*/ 3087592 h 3100729"/>
                <a:gd name="connsiteX3" fmla="*/ 1102165 w 1373653"/>
                <a:gd name="connsiteY3" fmla="*/ 2937027 h 3100729"/>
                <a:gd name="connsiteX4" fmla="*/ 200799 w 1373653"/>
                <a:gd name="connsiteY4" fmla="*/ 2035661 h 3100729"/>
                <a:gd name="connsiteX5" fmla="*/ 200799 w 1373653"/>
                <a:gd name="connsiteY5" fmla="*/ 1062899 h 3100729"/>
                <a:gd name="connsiteX6" fmla="*/ 1102165 w 1373653"/>
                <a:gd name="connsiteY6" fmla="*/ 163764 h 3100729"/>
                <a:gd name="connsiteX7" fmla="*/ 1329145 w 1373653"/>
                <a:gd name="connsiteY7" fmla="*/ 13165 h 3100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73653" h="3100729">
                  <a:moveTo>
                    <a:pt x="1373653" y="0"/>
                  </a:moveTo>
                  <a:lnTo>
                    <a:pt x="1373653" y="3100729"/>
                  </a:lnTo>
                  <a:lnTo>
                    <a:pt x="1329145" y="3087592"/>
                  </a:lnTo>
                  <a:cubicBezTo>
                    <a:pt x="1246490" y="3054160"/>
                    <a:pt x="1169098" y="3003960"/>
                    <a:pt x="1102165" y="2937027"/>
                  </a:cubicBezTo>
                  <a:lnTo>
                    <a:pt x="200799" y="2035661"/>
                  </a:lnTo>
                  <a:cubicBezTo>
                    <a:pt x="-66933" y="1767928"/>
                    <a:pt x="-66933" y="1332863"/>
                    <a:pt x="200799" y="1062899"/>
                  </a:cubicBezTo>
                  <a:lnTo>
                    <a:pt x="1102165" y="163764"/>
                  </a:lnTo>
                  <a:cubicBezTo>
                    <a:pt x="1169098" y="96831"/>
                    <a:pt x="1246490" y="46631"/>
                    <a:pt x="1329145" y="13165"/>
                  </a:cubicBezTo>
                  <a:close/>
                </a:path>
              </a:pathLst>
            </a:custGeom>
            <a:blipFill>
              <a:blip r:embed="rId2"/>
              <a:srcRect/>
              <a:stretch>
                <a:fillRect l="-46086" r="-103828"/>
              </a:stretch>
            </a:blip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4677513" y="4982153"/>
              <a:ext cx="3174863" cy="1894470"/>
            </a:xfrm>
            <a:custGeom>
              <a:avLst/>
              <a:gdLst>
                <a:gd name="connsiteX0" fmla="*/ 1587711 w 3174863"/>
                <a:gd name="connsiteY0" fmla="*/ 0 h 1894470"/>
                <a:gd name="connsiteX1" fmla="*/ 2074928 w 3174863"/>
                <a:gd name="connsiteY1" fmla="*/ 200799 h 1894470"/>
                <a:gd name="connsiteX2" fmla="*/ 2974063 w 3174863"/>
                <a:gd name="connsiteY2" fmla="*/ 1099934 h 1894470"/>
                <a:gd name="connsiteX3" fmla="*/ 3124663 w 3174863"/>
                <a:gd name="connsiteY3" fmla="*/ 1844461 h 1894470"/>
                <a:gd name="connsiteX4" fmla="*/ 3098493 w 3174863"/>
                <a:gd name="connsiteY4" fmla="*/ 1894470 h 1894470"/>
                <a:gd name="connsiteX5" fmla="*/ 75827 w 3174863"/>
                <a:gd name="connsiteY5" fmla="*/ 1894470 h 1894470"/>
                <a:gd name="connsiteX6" fmla="*/ 50201 w 3174863"/>
                <a:gd name="connsiteY6" fmla="*/ 1845716 h 1894470"/>
                <a:gd name="connsiteX7" fmla="*/ 200800 w 3174863"/>
                <a:gd name="connsiteY7" fmla="*/ 1099934 h 1894470"/>
                <a:gd name="connsiteX8" fmla="*/ 1102166 w 3174863"/>
                <a:gd name="connsiteY8" fmla="*/ 200799 h 1894470"/>
                <a:gd name="connsiteX9" fmla="*/ 1587711 w 3174863"/>
                <a:gd name="connsiteY9" fmla="*/ 0 h 189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894470">
                  <a:moveTo>
                    <a:pt x="1587711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98493" y="1894470"/>
                  </a:lnTo>
                  <a:lnTo>
                    <a:pt x="75827" y="1894470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1" y="0"/>
                  </a:cubicBezTo>
                  <a:close/>
                </a:path>
              </a:pathLst>
            </a:custGeom>
            <a:blipFill>
              <a:blip r:embed="rId3"/>
              <a:stretch>
                <a:fillRect l="-27274" t="-107543" r="-204276" b="-116325"/>
              </a:stretch>
            </a:blip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8716334" y="4970097"/>
              <a:ext cx="3174863" cy="1919483"/>
            </a:xfrm>
            <a:custGeom>
              <a:avLst/>
              <a:gdLst>
                <a:gd name="connsiteX0" fmla="*/ 1587710 w 3174863"/>
                <a:gd name="connsiteY0" fmla="*/ 0 h 1919483"/>
                <a:gd name="connsiteX1" fmla="*/ 2074928 w 3174863"/>
                <a:gd name="connsiteY1" fmla="*/ 200799 h 1919483"/>
                <a:gd name="connsiteX2" fmla="*/ 2974063 w 3174863"/>
                <a:gd name="connsiteY2" fmla="*/ 1099934 h 1919483"/>
                <a:gd name="connsiteX3" fmla="*/ 3124663 w 3174863"/>
                <a:gd name="connsiteY3" fmla="*/ 1844461 h 1919483"/>
                <a:gd name="connsiteX4" fmla="*/ 3085403 w 3174863"/>
                <a:gd name="connsiteY4" fmla="*/ 1919483 h 1919483"/>
                <a:gd name="connsiteX5" fmla="*/ 88973 w 3174863"/>
                <a:gd name="connsiteY5" fmla="*/ 1919483 h 1919483"/>
                <a:gd name="connsiteX6" fmla="*/ 50201 w 3174863"/>
                <a:gd name="connsiteY6" fmla="*/ 1845716 h 1919483"/>
                <a:gd name="connsiteX7" fmla="*/ 200800 w 3174863"/>
                <a:gd name="connsiteY7" fmla="*/ 1099934 h 1919483"/>
                <a:gd name="connsiteX8" fmla="*/ 1102166 w 3174863"/>
                <a:gd name="connsiteY8" fmla="*/ 200799 h 1919483"/>
                <a:gd name="connsiteX9" fmla="*/ 1587710 w 3174863"/>
                <a:gd name="connsiteY9" fmla="*/ 0 h 191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919483">
                  <a:moveTo>
                    <a:pt x="1587710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85403" y="1919483"/>
                  </a:lnTo>
                  <a:lnTo>
                    <a:pt x="88973" y="1919483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93860">
                  <a:schemeClr val="accent3">
                    <a:lumMod val="20000"/>
                    <a:lumOff val="80000"/>
                  </a:schemeClr>
                </a:gs>
                <a:gs pos="73000">
                  <a:schemeClr val="accent3"/>
                </a:gs>
              </a:gsLst>
              <a:path path="circle">
                <a:fillToRect r="100000" b="100000"/>
              </a:path>
              <a:tileRect l="-100000" t="-100000"/>
            </a:gra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>
              <a:off x="8677212" y="981014"/>
              <a:ext cx="3235101" cy="3235101"/>
            </a:xfrm>
            <a:custGeom>
              <a:avLst/>
              <a:gdLst>
                <a:gd name="connsiteX0" fmla="*/ 1141288 w 3235101"/>
                <a:gd name="connsiteY0" fmla="*/ 3013185 h 3235101"/>
                <a:gd name="connsiteX1" fmla="*/ 239922 w 3235101"/>
                <a:gd name="connsiteY1" fmla="*/ 2111819 h 3235101"/>
                <a:gd name="connsiteX2" fmla="*/ 239922 w 3235101"/>
                <a:gd name="connsiteY2" fmla="*/ 1139057 h 3235101"/>
                <a:gd name="connsiteX3" fmla="*/ 1141288 w 3235101"/>
                <a:gd name="connsiteY3" fmla="*/ 239922 h 3235101"/>
                <a:gd name="connsiteX4" fmla="*/ 2114050 w 3235101"/>
                <a:gd name="connsiteY4" fmla="*/ 239922 h 3235101"/>
                <a:gd name="connsiteX5" fmla="*/ 3013185 w 3235101"/>
                <a:gd name="connsiteY5" fmla="*/ 1139057 h 3235101"/>
                <a:gd name="connsiteX6" fmla="*/ 3013185 w 3235101"/>
                <a:gd name="connsiteY6" fmla="*/ 2111819 h 3235101"/>
                <a:gd name="connsiteX7" fmla="*/ 2114050 w 3235101"/>
                <a:gd name="connsiteY7" fmla="*/ 3010954 h 3235101"/>
                <a:gd name="connsiteX8" fmla="*/ 1141288 w 3235101"/>
                <a:gd name="connsiteY8" fmla="*/ 3013185 h 323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5101" h="3235101">
                  <a:moveTo>
                    <a:pt x="1141288" y="3013185"/>
                  </a:moveTo>
                  <a:lnTo>
                    <a:pt x="239922" y="2111819"/>
                  </a:lnTo>
                  <a:cubicBezTo>
                    <a:pt x="-27810" y="1844086"/>
                    <a:pt x="-27810" y="1409021"/>
                    <a:pt x="239922" y="1139057"/>
                  </a:cubicBezTo>
                  <a:lnTo>
                    <a:pt x="1141288" y="239922"/>
                  </a:lnTo>
                  <a:cubicBezTo>
                    <a:pt x="1409021" y="-27810"/>
                    <a:pt x="1844086" y="-27810"/>
                    <a:pt x="2114050" y="239922"/>
                  </a:cubicBezTo>
                  <a:lnTo>
                    <a:pt x="3013185" y="1139057"/>
                  </a:lnTo>
                  <a:cubicBezTo>
                    <a:pt x="3280918" y="1406790"/>
                    <a:pt x="3280918" y="1841855"/>
                    <a:pt x="3013185" y="2111819"/>
                  </a:cubicBezTo>
                  <a:lnTo>
                    <a:pt x="2114050" y="3010954"/>
                  </a:lnTo>
                  <a:cubicBezTo>
                    <a:pt x="1844086" y="3280918"/>
                    <a:pt x="1409021" y="3280918"/>
                    <a:pt x="1141288" y="3013185"/>
                  </a:cubicBezTo>
                  <a:close/>
                </a:path>
              </a:pathLst>
            </a:custGeom>
            <a:blipFill>
              <a:blip r:embed="rId3"/>
              <a:srcRect/>
              <a:stretch>
                <a:fillRect l="-2894" r="-2894"/>
              </a:stretch>
            </a:blip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6667538" y="2962022"/>
              <a:ext cx="3235101" cy="3235101"/>
            </a:xfrm>
            <a:custGeom>
              <a:avLst/>
              <a:gdLst>
                <a:gd name="connsiteX0" fmla="*/ 1141288 w 3235101"/>
                <a:gd name="connsiteY0" fmla="*/ 3013185 h 3235101"/>
                <a:gd name="connsiteX1" fmla="*/ 239922 w 3235101"/>
                <a:gd name="connsiteY1" fmla="*/ 2111819 h 3235101"/>
                <a:gd name="connsiteX2" fmla="*/ 239922 w 3235101"/>
                <a:gd name="connsiteY2" fmla="*/ 1139057 h 3235101"/>
                <a:gd name="connsiteX3" fmla="*/ 1141288 w 3235101"/>
                <a:gd name="connsiteY3" fmla="*/ 239922 h 3235101"/>
                <a:gd name="connsiteX4" fmla="*/ 2114050 w 3235101"/>
                <a:gd name="connsiteY4" fmla="*/ 239922 h 3235101"/>
                <a:gd name="connsiteX5" fmla="*/ 3013185 w 3235101"/>
                <a:gd name="connsiteY5" fmla="*/ 1139057 h 3235101"/>
                <a:gd name="connsiteX6" fmla="*/ 3013185 w 3235101"/>
                <a:gd name="connsiteY6" fmla="*/ 2111819 h 3235101"/>
                <a:gd name="connsiteX7" fmla="*/ 2114050 w 3235101"/>
                <a:gd name="connsiteY7" fmla="*/ 3010954 h 3235101"/>
                <a:gd name="connsiteX8" fmla="*/ 1141288 w 3235101"/>
                <a:gd name="connsiteY8" fmla="*/ 3013185 h 323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5101" h="3235101">
                  <a:moveTo>
                    <a:pt x="1141288" y="3013185"/>
                  </a:moveTo>
                  <a:lnTo>
                    <a:pt x="239922" y="2111819"/>
                  </a:lnTo>
                  <a:cubicBezTo>
                    <a:pt x="-27810" y="1844086"/>
                    <a:pt x="-27810" y="1409021"/>
                    <a:pt x="239922" y="1139057"/>
                  </a:cubicBezTo>
                  <a:lnTo>
                    <a:pt x="1141288" y="239922"/>
                  </a:lnTo>
                  <a:cubicBezTo>
                    <a:pt x="1409021" y="-27810"/>
                    <a:pt x="1844086" y="-27810"/>
                    <a:pt x="2114050" y="239922"/>
                  </a:cubicBezTo>
                  <a:lnTo>
                    <a:pt x="3013185" y="1139057"/>
                  </a:lnTo>
                  <a:cubicBezTo>
                    <a:pt x="3280918" y="1406790"/>
                    <a:pt x="3280918" y="1841855"/>
                    <a:pt x="3013185" y="2111819"/>
                  </a:cubicBezTo>
                  <a:lnTo>
                    <a:pt x="2114050" y="3010954"/>
                  </a:lnTo>
                  <a:cubicBezTo>
                    <a:pt x="1844086" y="3280918"/>
                    <a:pt x="1409021" y="3280918"/>
                    <a:pt x="1141288" y="3013185"/>
                  </a:cubicBezTo>
                  <a:close/>
                </a:path>
              </a:pathLst>
            </a:custGeom>
            <a:blipFill>
              <a:blip r:embed="rId3"/>
              <a:srcRect/>
              <a:stretch>
                <a:fillRect l="-262452" t="-55711" r="-2038" b="-49691"/>
              </a:stretch>
            </a:blip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6" name="任意多边形: 形状 15"/>
            <p:cNvSpPr/>
            <p:nvPr/>
          </p:nvSpPr>
          <p:spPr>
            <a:xfrm>
              <a:off x="8677212" y="2962022"/>
              <a:ext cx="3235101" cy="3235101"/>
            </a:xfrm>
            <a:custGeom>
              <a:avLst/>
              <a:gdLst>
                <a:gd name="connsiteX0" fmla="*/ 1141288 w 3235101"/>
                <a:gd name="connsiteY0" fmla="*/ 3013185 h 3235101"/>
                <a:gd name="connsiteX1" fmla="*/ 239922 w 3235101"/>
                <a:gd name="connsiteY1" fmla="*/ 2111819 h 3235101"/>
                <a:gd name="connsiteX2" fmla="*/ 239922 w 3235101"/>
                <a:gd name="connsiteY2" fmla="*/ 1139057 h 3235101"/>
                <a:gd name="connsiteX3" fmla="*/ 1141288 w 3235101"/>
                <a:gd name="connsiteY3" fmla="*/ 239922 h 3235101"/>
                <a:gd name="connsiteX4" fmla="*/ 2114050 w 3235101"/>
                <a:gd name="connsiteY4" fmla="*/ 239922 h 3235101"/>
                <a:gd name="connsiteX5" fmla="*/ 3013185 w 3235101"/>
                <a:gd name="connsiteY5" fmla="*/ 1139057 h 3235101"/>
                <a:gd name="connsiteX6" fmla="*/ 3013185 w 3235101"/>
                <a:gd name="connsiteY6" fmla="*/ 2111819 h 3235101"/>
                <a:gd name="connsiteX7" fmla="*/ 2114050 w 3235101"/>
                <a:gd name="connsiteY7" fmla="*/ 3010954 h 3235101"/>
                <a:gd name="connsiteX8" fmla="*/ 1141288 w 3235101"/>
                <a:gd name="connsiteY8" fmla="*/ 3013185 h 323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5101" h="3235101">
                  <a:moveTo>
                    <a:pt x="1141288" y="3013185"/>
                  </a:moveTo>
                  <a:lnTo>
                    <a:pt x="239922" y="2111819"/>
                  </a:lnTo>
                  <a:cubicBezTo>
                    <a:pt x="-27810" y="1844086"/>
                    <a:pt x="-27810" y="1409021"/>
                    <a:pt x="239922" y="1139057"/>
                  </a:cubicBezTo>
                  <a:lnTo>
                    <a:pt x="1141288" y="239922"/>
                  </a:lnTo>
                  <a:cubicBezTo>
                    <a:pt x="1409021" y="-27810"/>
                    <a:pt x="1844086" y="-27810"/>
                    <a:pt x="2114050" y="239922"/>
                  </a:cubicBezTo>
                  <a:lnTo>
                    <a:pt x="3013185" y="1139057"/>
                  </a:lnTo>
                  <a:cubicBezTo>
                    <a:pt x="3280918" y="1406790"/>
                    <a:pt x="3280918" y="1841855"/>
                    <a:pt x="3013185" y="2111819"/>
                  </a:cubicBezTo>
                  <a:lnTo>
                    <a:pt x="2114050" y="3010954"/>
                  </a:lnTo>
                  <a:cubicBezTo>
                    <a:pt x="1844086" y="3280918"/>
                    <a:pt x="1409021" y="3280918"/>
                    <a:pt x="1141288" y="3013185"/>
                  </a:cubicBezTo>
                  <a:close/>
                </a:path>
              </a:pathLst>
            </a:custGeom>
            <a:noFill/>
            <a:ln w="2227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7" name="任意多边形: 形状 16"/>
            <p:cNvSpPr/>
            <p:nvPr/>
          </p:nvSpPr>
          <p:spPr>
            <a:xfrm rot="16200000">
              <a:off x="9657025" y="2204810"/>
              <a:ext cx="3174863" cy="1919483"/>
            </a:xfrm>
            <a:custGeom>
              <a:avLst/>
              <a:gdLst>
                <a:gd name="connsiteX0" fmla="*/ 1587710 w 3174863"/>
                <a:gd name="connsiteY0" fmla="*/ 0 h 1919483"/>
                <a:gd name="connsiteX1" fmla="*/ 2074928 w 3174863"/>
                <a:gd name="connsiteY1" fmla="*/ 200799 h 1919483"/>
                <a:gd name="connsiteX2" fmla="*/ 2974063 w 3174863"/>
                <a:gd name="connsiteY2" fmla="*/ 1099934 h 1919483"/>
                <a:gd name="connsiteX3" fmla="*/ 3124663 w 3174863"/>
                <a:gd name="connsiteY3" fmla="*/ 1844461 h 1919483"/>
                <a:gd name="connsiteX4" fmla="*/ 3085403 w 3174863"/>
                <a:gd name="connsiteY4" fmla="*/ 1919483 h 1919483"/>
                <a:gd name="connsiteX5" fmla="*/ 88973 w 3174863"/>
                <a:gd name="connsiteY5" fmla="*/ 1919483 h 1919483"/>
                <a:gd name="connsiteX6" fmla="*/ 50201 w 3174863"/>
                <a:gd name="connsiteY6" fmla="*/ 1845716 h 1919483"/>
                <a:gd name="connsiteX7" fmla="*/ 200800 w 3174863"/>
                <a:gd name="connsiteY7" fmla="*/ 1099934 h 1919483"/>
                <a:gd name="connsiteX8" fmla="*/ 1102166 w 3174863"/>
                <a:gd name="connsiteY8" fmla="*/ 200799 h 1919483"/>
                <a:gd name="connsiteX9" fmla="*/ 1587710 w 3174863"/>
                <a:gd name="connsiteY9" fmla="*/ 0 h 191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919483">
                  <a:moveTo>
                    <a:pt x="1587710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85403" y="1919483"/>
                  </a:lnTo>
                  <a:lnTo>
                    <a:pt x="88973" y="1919483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0" y="0"/>
                  </a:cubicBezTo>
                  <a:close/>
                </a:path>
              </a:pathLst>
            </a:custGeom>
            <a:solidFill>
              <a:schemeClr val="accent3">
                <a:alpha val="28000"/>
              </a:schemeClr>
            </a:soli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6670617" y="5039643"/>
              <a:ext cx="3174863" cy="1849937"/>
            </a:xfrm>
            <a:custGeom>
              <a:avLst/>
              <a:gdLst>
                <a:gd name="connsiteX0" fmla="*/ 1587710 w 3174863"/>
                <a:gd name="connsiteY0" fmla="*/ 0 h 1919483"/>
                <a:gd name="connsiteX1" fmla="*/ 2074928 w 3174863"/>
                <a:gd name="connsiteY1" fmla="*/ 200799 h 1919483"/>
                <a:gd name="connsiteX2" fmla="*/ 2974063 w 3174863"/>
                <a:gd name="connsiteY2" fmla="*/ 1099934 h 1919483"/>
                <a:gd name="connsiteX3" fmla="*/ 3124663 w 3174863"/>
                <a:gd name="connsiteY3" fmla="*/ 1844461 h 1919483"/>
                <a:gd name="connsiteX4" fmla="*/ 3085403 w 3174863"/>
                <a:gd name="connsiteY4" fmla="*/ 1919483 h 1919483"/>
                <a:gd name="connsiteX5" fmla="*/ 88973 w 3174863"/>
                <a:gd name="connsiteY5" fmla="*/ 1919483 h 1919483"/>
                <a:gd name="connsiteX6" fmla="*/ 50201 w 3174863"/>
                <a:gd name="connsiteY6" fmla="*/ 1845716 h 1919483"/>
                <a:gd name="connsiteX7" fmla="*/ 200800 w 3174863"/>
                <a:gd name="connsiteY7" fmla="*/ 1099934 h 1919483"/>
                <a:gd name="connsiteX8" fmla="*/ 1102166 w 3174863"/>
                <a:gd name="connsiteY8" fmla="*/ 200799 h 1919483"/>
                <a:gd name="connsiteX9" fmla="*/ 1587710 w 3174863"/>
                <a:gd name="connsiteY9" fmla="*/ 0 h 191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919483">
                  <a:moveTo>
                    <a:pt x="1587710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85403" y="1919483"/>
                  </a:lnTo>
                  <a:lnTo>
                    <a:pt x="88973" y="1919483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0" y="0"/>
                  </a:cubicBezTo>
                  <a:close/>
                </a:path>
              </a:pathLst>
            </a:custGeom>
            <a:solidFill>
              <a:schemeClr val="accent3">
                <a:alpha val="28000"/>
              </a:schemeClr>
            </a:soli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0400" y="1302106"/>
            <a:ext cx="7724927" cy="2384753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pic>
        <p:nvPicPr>
          <p:cNvPr id="4" name="图片 3" descr="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5613" y="268544"/>
            <a:ext cx="1932940" cy="712470"/>
          </a:xfrm>
          <a:prstGeom prst="rect">
            <a:avLst/>
          </a:prstGeom>
        </p:spPr>
      </p:pic>
      <p:sp>
        <p:nvSpPr>
          <p:cNvPr id="9" name="页脚占位符 4"/>
          <p:cNvSpPr txBox="1"/>
          <p:nvPr userDrawn="1"/>
        </p:nvSpPr>
        <p:spPr>
          <a:xfrm>
            <a:off x="274661" y="6517073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</a:rPr>
              <a:t>北京智车睿控信息技术有限公司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pic>
        <p:nvPicPr>
          <p:cNvPr id="9" name="图片 8" descr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4330" y="6281420"/>
            <a:ext cx="1544320" cy="560705"/>
          </a:xfrm>
          <a:prstGeom prst="rect">
            <a:avLst/>
          </a:prstGeom>
        </p:spPr>
      </p:pic>
      <p:sp>
        <p:nvSpPr>
          <p:cNvPr id="4" name="页脚占位符 4"/>
          <p:cNvSpPr txBox="1"/>
          <p:nvPr userDrawn="1"/>
        </p:nvSpPr>
        <p:spPr>
          <a:xfrm>
            <a:off x="274661" y="6517073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</a:rPr>
              <a:t>北京智车睿控信息技术有限公司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  <a:prstGeom prst="rect">
            <a:avLst/>
          </a:prstGeom>
        </p:spPr>
        <p:txBody>
          <a:bodyPr anchor="t">
            <a:normAutofit/>
          </a:bodyPr>
          <a:lstStyle>
            <a:lvl1pPr algn="r">
              <a:defRPr sz="24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3745078" y="1500188"/>
            <a:ext cx="7773821" cy="4633912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" name="任意多边形: 形状 8"/>
          <p:cNvSpPr>
            <a:spLocks noChangeAspect="1"/>
          </p:cNvSpPr>
          <p:nvPr userDrawn="1"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页脚占位符 4"/>
          <p:cNvSpPr txBox="1"/>
          <p:nvPr userDrawn="1"/>
        </p:nvSpPr>
        <p:spPr>
          <a:xfrm>
            <a:off x="274661" y="6517073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</a:rPr>
              <a:t>北京智车睿控信息技术有限公司</a:t>
            </a:r>
          </a:p>
        </p:txBody>
      </p:sp>
      <p:pic>
        <p:nvPicPr>
          <p:cNvPr id="6" name="图片 5" descr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810" y="6179820"/>
            <a:ext cx="1767840" cy="662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76950" y="2441601"/>
            <a:ext cx="5435600" cy="98739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83300" y="3429000"/>
            <a:ext cx="5435600" cy="27051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6118" y="144"/>
            <a:ext cx="3911143" cy="6858005"/>
            <a:chOff x="-6118" y="144"/>
            <a:chExt cx="3911143" cy="6858005"/>
          </a:xfrm>
        </p:grpSpPr>
        <p:sp>
          <p:nvSpPr>
            <p:cNvPr id="8" name="任意多边形: 形状 7"/>
            <p:cNvSpPr/>
            <p:nvPr/>
          </p:nvSpPr>
          <p:spPr>
            <a:xfrm>
              <a:off x="669924" y="2993042"/>
              <a:ext cx="3235101" cy="3235101"/>
            </a:xfrm>
            <a:custGeom>
              <a:avLst/>
              <a:gdLst>
                <a:gd name="connsiteX0" fmla="*/ 1141288 w 3235101"/>
                <a:gd name="connsiteY0" fmla="*/ 3013185 h 3235101"/>
                <a:gd name="connsiteX1" fmla="*/ 239922 w 3235101"/>
                <a:gd name="connsiteY1" fmla="*/ 2111819 h 3235101"/>
                <a:gd name="connsiteX2" fmla="*/ 239922 w 3235101"/>
                <a:gd name="connsiteY2" fmla="*/ 1139057 h 3235101"/>
                <a:gd name="connsiteX3" fmla="*/ 1141288 w 3235101"/>
                <a:gd name="connsiteY3" fmla="*/ 239922 h 3235101"/>
                <a:gd name="connsiteX4" fmla="*/ 2114050 w 3235101"/>
                <a:gd name="connsiteY4" fmla="*/ 239922 h 3235101"/>
                <a:gd name="connsiteX5" fmla="*/ 3013185 w 3235101"/>
                <a:gd name="connsiteY5" fmla="*/ 1139057 h 3235101"/>
                <a:gd name="connsiteX6" fmla="*/ 3013185 w 3235101"/>
                <a:gd name="connsiteY6" fmla="*/ 2111819 h 3235101"/>
                <a:gd name="connsiteX7" fmla="*/ 2114050 w 3235101"/>
                <a:gd name="connsiteY7" fmla="*/ 3010954 h 3235101"/>
                <a:gd name="connsiteX8" fmla="*/ 1141288 w 3235101"/>
                <a:gd name="connsiteY8" fmla="*/ 3013185 h 323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5101" h="3235101">
                  <a:moveTo>
                    <a:pt x="1141288" y="3013185"/>
                  </a:moveTo>
                  <a:lnTo>
                    <a:pt x="239922" y="2111819"/>
                  </a:lnTo>
                  <a:cubicBezTo>
                    <a:pt x="-27810" y="1844086"/>
                    <a:pt x="-27810" y="1409021"/>
                    <a:pt x="239922" y="1139057"/>
                  </a:cubicBezTo>
                  <a:lnTo>
                    <a:pt x="1141288" y="239922"/>
                  </a:lnTo>
                  <a:cubicBezTo>
                    <a:pt x="1409021" y="-27810"/>
                    <a:pt x="1844086" y="-27810"/>
                    <a:pt x="2114050" y="239922"/>
                  </a:cubicBezTo>
                  <a:lnTo>
                    <a:pt x="3013185" y="1139057"/>
                  </a:lnTo>
                  <a:cubicBezTo>
                    <a:pt x="3280918" y="1406790"/>
                    <a:pt x="3280918" y="1841855"/>
                    <a:pt x="3013185" y="2111819"/>
                  </a:cubicBezTo>
                  <a:lnTo>
                    <a:pt x="2114050" y="3010954"/>
                  </a:lnTo>
                  <a:cubicBezTo>
                    <a:pt x="1844086" y="3280918"/>
                    <a:pt x="1409021" y="3280918"/>
                    <a:pt x="1141288" y="3013185"/>
                  </a:cubicBezTo>
                  <a:close/>
                </a:path>
              </a:pathLst>
            </a:custGeom>
            <a:blipFill>
              <a:blip r:embed="rId2"/>
              <a:srcRect/>
              <a:stretch>
                <a:fillRect l="-2894" r="-2894"/>
              </a:stretch>
            </a:blip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 rot="10800000">
              <a:off x="-6118" y="4654996"/>
              <a:ext cx="1421779" cy="2203153"/>
            </a:xfrm>
            <a:custGeom>
              <a:avLst/>
              <a:gdLst>
                <a:gd name="connsiteX0" fmla="*/ 352293 w 1421779"/>
                <a:gd name="connsiteY0" fmla="*/ 0 h 2203153"/>
                <a:gd name="connsiteX1" fmla="*/ 1421779 w 1421779"/>
                <a:gd name="connsiteY1" fmla="*/ 0 h 2203153"/>
                <a:gd name="connsiteX2" fmla="*/ 1421779 w 1421779"/>
                <a:gd name="connsiteY2" fmla="*/ 2203153 h 2203153"/>
                <a:gd name="connsiteX3" fmla="*/ 1329145 w 1421779"/>
                <a:gd name="connsiteY3" fmla="*/ 2175812 h 2203153"/>
                <a:gd name="connsiteX4" fmla="*/ 1102165 w 1421779"/>
                <a:gd name="connsiteY4" fmla="*/ 2025247 h 2203153"/>
                <a:gd name="connsiteX5" fmla="*/ 200799 w 1421779"/>
                <a:gd name="connsiteY5" fmla="*/ 1123881 h 2203153"/>
                <a:gd name="connsiteX6" fmla="*/ 200799 w 1421779"/>
                <a:gd name="connsiteY6" fmla="*/ 151119 h 220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1779" h="2203153">
                  <a:moveTo>
                    <a:pt x="352293" y="0"/>
                  </a:moveTo>
                  <a:lnTo>
                    <a:pt x="1421779" y="0"/>
                  </a:lnTo>
                  <a:lnTo>
                    <a:pt x="1421779" y="2203153"/>
                  </a:lnTo>
                  <a:lnTo>
                    <a:pt x="1329145" y="2175812"/>
                  </a:lnTo>
                  <a:cubicBezTo>
                    <a:pt x="1246490" y="2142380"/>
                    <a:pt x="1169098" y="2092180"/>
                    <a:pt x="1102165" y="2025247"/>
                  </a:cubicBezTo>
                  <a:lnTo>
                    <a:pt x="200799" y="1123881"/>
                  </a:lnTo>
                  <a:cubicBezTo>
                    <a:pt x="-66933" y="856148"/>
                    <a:pt x="-66933" y="421083"/>
                    <a:pt x="200799" y="151119"/>
                  </a:cubicBezTo>
                  <a:close/>
                </a:path>
              </a:pathLst>
            </a:custGeom>
            <a:gradFill>
              <a:gsLst>
                <a:gs pos="0">
                  <a:schemeClr val="accent4">
                    <a:lumMod val="20000"/>
                    <a:lumOff val="80000"/>
                  </a:schemeClr>
                </a:gs>
                <a:gs pos="74000">
                  <a:schemeClr val="accent4"/>
                </a:gs>
                <a:gs pos="100000">
                  <a:schemeClr val="accent4"/>
                </a:gs>
              </a:gsLst>
              <a:lin ang="5400000" scaled="1"/>
            </a:gra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620609" y="735299"/>
              <a:ext cx="3235101" cy="3235101"/>
            </a:xfrm>
            <a:custGeom>
              <a:avLst/>
              <a:gdLst>
                <a:gd name="connsiteX0" fmla="*/ 1141288 w 3235101"/>
                <a:gd name="connsiteY0" fmla="*/ 3013185 h 3235101"/>
                <a:gd name="connsiteX1" fmla="*/ 239922 w 3235101"/>
                <a:gd name="connsiteY1" fmla="*/ 2111819 h 3235101"/>
                <a:gd name="connsiteX2" fmla="*/ 239922 w 3235101"/>
                <a:gd name="connsiteY2" fmla="*/ 1139057 h 3235101"/>
                <a:gd name="connsiteX3" fmla="*/ 1141288 w 3235101"/>
                <a:gd name="connsiteY3" fmla="*/ 239922 h 3235101"/>
                <a:gd name="connsiteX4" fmla="*/ 2114050 w 3235101"/>
                <a:gd name="connsiteY4" fmla="*/ 239922 h 3235101"/>
                <a:gd name="connsiteX5" fmla="*/ 3013185 w 3235101"/>
                <a:gd name="connsiteY5" fmla="*/ 1139057 h 3235101"/>
                <a:gd name="connsiteX6" fmla="*/ 3013185 w 3235101"/>
                <a:gd name="connsiteY6" fmla="*/ 2111819 h 3235101"/>
                <a:gd name="connsiteX7" fmla="*/ 2114050 w 3235101"/>
                <a:gd name="connsiteY7" fmla="*/ 3010954 h 3235101"/>
                <a:gd name="connsiteX8" fmla="*/ 1141288 w 3235101"/>
                <a:gd name="connsiteY8" fmla="*/ 3013185 h 323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5101" h="3235101">
                  <a:moveTo>
                    <a:pt x="1141288" y="3013185"/>
                  </a:moveTo>
                  <a:lnTo>
                    <a:pt x="239922" y="2111819"/>
                  </a:lnTo>
                  <a:cubicBezTo>
                    <a:pt x="-27810" y="1844086"/>
                    <a:pt x="-27810" y="1409021"/>
                    <a:pt x="239922" y="1139057"/>
                  </a:cubicBezTo>
                  <a:lnTo>
                    <a:pt x="1141288" y="239922"/>
                  </a:lnTo>
                  <a:cubicBezTo>
                    <a:pt x="1409021" y="-27810"/>
                    <a:pt x="1844086" y="-27810"/>
                    <a:pt x="2114050" y="239922"/>
                  </a:cubicBezTo>
                  <a:lnTo>
                    <a:pt x="3013185" y="1139057"/>
                  </a:lnTo>
                  <a:cubicBezTo>
                    <a:pt x="3280918" y="1406790"/>
                    <a:pt x="3280918" y="1841855"/>
                    <a:pt x="3013185" y="2111819"/>
                  </a:cubicBezTo>
                  <a:lnTo>
                    <a:pt x="2114050" y="3010954"/>
                  </a:lnTo>
                  <a:cubicBezTo>
                    <a:pt x="1844086" y="3280918"/>
                    <a:pt x="1409021" y="3280918"/>
                    <a:pt x="1141288" y="3013185"/>
                  </a:cubicBezTo>
                  <a:close/>
                </a:path>
              </a:pathLst>
            </a:custGeom>
            <a:noFill/>
            <a:ln w="2227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 rot="5400000">
              <a:off x="-624284" y="1555480"/>
              <a:ext cx="3174863" cy="1919483"/>
            </a:xfrm>
            <a:custGeom>
              <a:avLst/>
              <a:gdLst>
                <a:gd name="connsiteX0" fmla="*/ 1587710 w 3174863"/>
                <a:gd name="connsiteY0" fmla="*/ 0 h 1919483"/>
                <a:gd name="connsiteX1" fmla="*/ 2074928 w 3174863"/>
                <a:gd name="connsiteY1" fmla="*/ 200799 h 1919483"/>
                <a:gd name="connsiteX2" fmla="*/ 2974063 w 3174863"/>
                <a:gd name="connsiteY2" fmla="*/ 1099934 h 1919483"/>
                <a:gd name="connsiteX3" fmla="*/ 3124663 w 3174863"/>
                <a:gd name="connsiteY3" fmla="*/ 1844461 h 1919483"/>
                <a:gd name="connsiteX4" fmla="*/ 3085403 w 3174863"/>
                <a:gd name="connsiteY4" fmla="*/ 1919483 h 1919483"/>
                <a:gd name="connsiteX5" fmla="*/ 88973 w 3174863"/>
                <a:gd name="connsiteY5" fmla="*/ 1919483 h 1919483"/>
                <a:gd name="connsiteX6" fmla="*/ 50201 w 3174863"/>
                <a:gd name="connsiteY6" fmla="*/ 1845716 h 1919483"/>
                <a:gd name="connsiteX7" fmla="*/ 200800 w 3174863"/>
                <a:gd name="connsiteY7" fmla="*/ 1099934 h 1919483"/>
                <a:gd name="connsiteX8" fmla="*/ 1102166 w 3174863"/>
                <a:gd name="connsiteY8" fmla="*/ 200799 h 1919483"/>
                <a:gd name="connsiteX9" fmla="*/ 1587710 w 3174863"/>
                <a:gd name="connsiteY9" fmla="*/ 0 h 191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919483">
                  <a:moveTo>
                    <a:pt x="1587710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85403" y="1919483"/>
                  </a:lnTo>
                  <a:lnTo>
                    <a:pt x="88973" y="1919483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0" y="0"/>
                  </a:cubicBezTo>
                  <a:close/>
                </a:path>
              </a:pathLst>
            </a:custGeom>
            <a:solidFill>
              <a:schemeClr val="accent3">
                <a:alpha val="28000"/>
              </a:schemeClr>
            </a:soli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 rot="10800000">
              <a:off x="485662" y="144"/>
              <a:ext cx="3174863" cy="1919483"/>
            </a:xfrm>
            <a:custGeom>
              <a:avLst/>
              <a:gdLst>
                <a:gd name="connsiteX0" fmla="*/ 1587710 w 3174863"/>
                <a:gd name="connsiteY0" fmla="*/ 0 h 1919483"/>
                <a:gd name="connsiteX1" fmla="*/ 2074928 w 3174863"/>
                <a:gd name="connsiteY1" fmla="*/ 200799 h 1919483"/>
                <a:gd name="connsiteX2" fmla="*/ 2974063 w 3174863"/>
                <a:gd name="connsiteY2" fmla="*/ 1099934 h 1919483"/>
                <a:gd name="connsiteX3" fmla="*/ 3124663 w 3174863"/>
                <a:gd name="connsiteY3" fmla="*/ 1844461 h 1919483"/>
                <a:gd name="connsiteX4" fmla="*/ 3085403 w 3174863"/>
                <a:gd name="connsiteY4" fmla="*/ 1919483 h 1919483"/>
                <a:gd name="connsiteX5" fmla="*/ 88973 w 3174863"/>
                <a:gd name="connsiteY5" fmla="*/ 1919483 h 1919483"/>
                <a:gd name="connsiteX6" fmla="*/ 50201 w 3174863"/>
                <a:gd name="connsiteY6" fmla="*/ 1845716 h 1919483"/>
                <a:gd name="connsiteX7" fmla="*/ 200800 w 3174863"/>
                <a:gd name="connsiteY7" fmla="*/ 1099934 h 1919483"/>
                <a:gd name="connsiteX8" fmla="*/ 1102166 w 3174863"/>
                <a:gd name="connsiteY8" fmla="*/ 200799 h 1919483"/>
                <a:gd name="connsiteX9" fmla="*/ 1587710 w 3174863"/>
                <a:gd name="connsiteY9" fmla="*/ 0 h 191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919483">
                  <a:moveTo>
                    <a:pt x="1587710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85403" y="1919483"/>
                  </a:lnTo>
                  <a:lnTo>
                    <a:pt x="88973" y="1919483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0" y="0"/>
                  </a:cubicBezTo>
                  <a:close/>
                </a:path>
              </a:pathLst>
            </a:custGeom>
            <a:solidFill>
              <a:schemeClr val="accent3">
                <a:alpha val="28000"/>
              </a:schemeClr>
            </a:soli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6" name="页脚占位符 4"/>
          <p:cNvSpPr txBox="1"/>
          <p:nvPr userDrawn="1"/>
        </p:nvSpPr>
        <p:spPr>
          <a:xfrm>
            <a:off x="274661" y="6517073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</a:rPr>
              <a:t>北京智车睿控信息技术有限公司</a:t>
            </a:r>
          </a:p>
        </p:txBody>
      </p:sp>
      <p:pic>
        <p:nvPicPr>
          <p:cNvPr id="13" name="图片 12" descr="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0810" y="6179820"/>
            <a:ext cx="1767840" cy="662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页脚占位符 4"/>
          <p:cNvSpPr txBox="1"/>
          <p:nvPr userDrawn="1"/>
        </p:nvSpPr>
        <p:spPr>
          <a:xfrm>
            <a:off x="274661" y="6517073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</a:rPr>
              <a:t>北京智车睿控信息技术有限公司</a:t>
            </a:r>
          </a:p>
        </p:txBody>
      </p:sp>
      <p:pic>
        <p:nvPicPr>
          <p:cNvPr id="3" name="图片 2" descr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810" y="6179820"/>
            <a:ext cx="1767840" cy="662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4"/>
          <p:cNvSpPr txBox="1"/>
          <p:nvPr userDrawn="1"/>
        </p:nvSpPr>
        <p:spPr>
          <a:xfrm>
            <a:off x="274661" y="6517073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</a:rPr>
              <a:t>北京智车睿控信息技术有限公司</a:t>
            </a:r>
          </a:p>
        </p:txBody>
      </p:sp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90810" y="6179820"/>
            <a:ext cx="1767840" cy="6623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losing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4677513" y="12701"/>
            <a:ext cx="7526685" cy="6889579"/>
            <a:chOff x="4677513" y="1"/>
            <a:chExt cx="7526685" cy="6889579"/>
          </a:xfrm>
        </p:grpSpPr>
        <p:sp>
          <p:nvSpPr>
            <p:cNvPr id="4" name="任意多边形: 形状 3"/>
            <p:cNvSpPr/>
            <p:nvPr/>
          </p:nvSpPr>
          <p:spPr>
            <a:xfrm>
              <a:off x="10770221" y="1"/>
              <a:ext cx="1421779" cy="2203153"/>
            </a:xfrm>
            <a:custGeom>
              <a:avLst/>
              <a:gdLst>
                <a:gd name="connsiteX0" fmla="*/ 352293 w 1421779"/>
                <a:gd name="connsiteY0" fmla="*/ 0 h 2203153"/>
                <a:gd name="connsiteX1" fmla="*/ 1421779 w 1421779"/>
                <a:gd name="connsiteY1" fmla="*/ 0 h 2203153"/>
                <a:gd name="connsiteX2" fmla="*/ 1421779 w 1421779"/>
                <a:gd name="connsiteY2" fmla="*/ 2203153 h 2203153"/>
                <a:gd name="connsiteX3" fmla="*/ 1329145 w 1421779"/>
                <a:gd name="connsiteY3" fmla="*/ 2175812 h 2203153"/>
                <a:gd name="connsiteX4" fmla="*/ 1102165 w 1421779"/>
                <a:gd name="connsiteY4" fmla="*/ 2025247 h 2203153"/>
                <a:gd name="connsiteX5" fmla="*/ 200799 w 1421779"/>
                <a:gd name="connsiteY5" fmla="*/ 1123881 h 2203153"/>
                <a:gd name="connsiteX6" fmla="*/ 200799 w 1421779"/>
                <a:gd name="connsiteY6" fmla="*/ 151119 h 22031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21779" h="2203153">
                  <a:moveTo>
                    <a:pt x="352293" y="0"/>
                  </a:moveTo>
                  <a:lnTo>
                    <a:pt x="1421779" y="0"/>
                  </a:lnTo>
                  <a:lnTo>
                    <a:pt x="1421779" y="2203153"/>
                  </a:lnTo>
                  <a:lnTo>
                    <a:pt x="1329145" y="2175812"/>
                  </a:lnTo>
                  <a:cubicBezTo>
                    <a:pt x="1246490" y="2142380"/>
                    <a:pt x="1169098" y="2092180"/>
                    <a:pt x="1102165" y="2025247"/>
                  </a:cubicBezTo>
                  <a:lnTo>
                    <a:pt x="200799" y="1123881"/>
                  </a:lnTo>
                  <a:cubicBezTo>
                    <a:pt x="-66933" y="856148"/>
                    <a:pt x="-66933" y="421083"/>
                    <a:pt x="200799" y="151119"/>
                  </a:cubicBezTo>
                  <a:close/>
                </a:path>
              </a:pathLst>
            </a:custGeom>
            <a:gradFill>
              <a:gsLst>
                <a:gs pos="70000">
                  <a:schemeClr val="accent4"/>
                </a:gs>
                <a:gs pos="0">
                  <a:schemeClr val="accent4">
                    <a:lumMod val="20000"/>
                    <a:lumOff val="80000"/>
                  </a:schemeClr>
                </a:gs>
                <a:gs pos="100000">
                  <a:schemeClr val="accent4"/>
                </a:gs>
              </a:gsLst>
              <a:lin ang="5400000" scaled="1"/>
            </a:gra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5" name="任意多边形: 形状 4"/>
            <p:cNvSpPr/>
            <p:nvPr/>
          </p:nvSpPr>
          <p:spPr>
            <a:xfrm>
              <a:off x="10818347" y="3038180"/>
              <a:ext cx="1373653" cy="3100729"/>
            </a:xfrm>
            <a:custGeom>
              <a:avLst/>
              <a:gdLst>
                <a:gd name="connsiteX0" fmla="*/ 1373653 w 1373653"/>
                <a:gd name="connsiteY0" fmla="*/ 0 h 3100729"/>
                <a:gd name="connsiteX1" fmla="*/ 1373653 w 1373653"/>
                <a:gd name="connsiteY1" fmla="*/ 3100729 h 3100729"/>
                <a:gd name="connsiteX2" fmla="*/ 1329145 w 1373653"/>
                <a:gd name="connsiteY2" fmla="*/ 3087592 h 3100729"/>
                <a:gd name="connsiteX3" fmla="*/ 1102165 w 1373653"/>
                <a:gd name="connsiteY3" fmla="*/ 2937027 h 3100729"/>
                <a:gd name="connsiteX4" fmla="*/ 200799 w 1373653"/>
                <a:gd name="connsiteY4" fmla="*/ 2035661 h 3100729"/>
                <a:gd name="connsiteX5" fmla="*/ 200799 w 1373653"/>
                <a:gd name="connsiteY5" fmla="*/ 1062899 h 3100729"/>
                <a:gd name="connsiteX6" fmla="*/ 1102165 w 1373653"/>
                <a:gd name="connsiteY6" fmla="*/ 163764 h 3100729"/>
                <a:gd name="connsiteX7" fmla="*/ 1329145 w 1373653"/>
                <a:gd name="connsiteY7" fmla="*/ 13165 h 31007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73653" h="3100729">
                  <a:moveTo>
                    <a:pt x="1373653" y="0"/>
                  </a:moveTo>
                  <a:lnTo>
                    <a:pt x="1373653" y="3100729"/>
                  </a:lnTo>
                  <a:lnTo>
                    <a:pt x="1329145" y="3087592"/>
                  </a:lnTo>
                  <a:cubicBezTo>
                    <a:pt x="1246490" y="3054160"/>
                    <a:pt x="1169098" y="3003960"/>
                    <a:pt x="1102165" y="2937027"/>
                  </a:cubicBezTo>
                  <a:lnTo>
                    <a:pt x="200799" y="2035661"/>
                  </a:lnTo>
                  <a:cubicBezTo>
                    <a:pt x="-66933" y="1767928"/>
                    <a:pt x="-66933" y="1332863"/>
                    <a:pt x="200799" y="1062899"/>
                  </a:cubicBezTo>
                  <a:lnTo>
                    <a:pt x="1102165" y="163764"/>
                  </a:lnTo>
                  <a:cubicBezTo>
                    <a:pt x="1169098" y="96831"/>
                    <a:pt x="1246490" y="46631"/>
                    <a:pt x="1329145" y="13165"/>
                  </a:cubicBezTo>
                  <a:close/>
                </a:path>
              </a:pathLst>
            </a:custGeom>
            <a:blipFill>
              <a:blip r:embed="rId2"/>
              <a:srcRect/>
              <a:stretch>
                <a:fillRect l="-46086" r="-103828"/>
              </a:stretch>
            </a:blip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4677513" y="4982153"/>
              <a:ext cx="3174863" cy="1894470"/>
            </a:xfrm>
            <a:custGeom>
              <a:avLst/>
              <a:gdLst>
                <a:gd name="connsiteX0" fmla="*/ 1587711 w 3174863"/>
                <a:gd name="connsiteY0" fmla="*/ 0 h 1894470"/>
                <a:gd name="connsiteX1" fmla="*/ 2074928 w 3174863"/>
                <a:gd name="connsiteY1" fmla="*/ 200799 h 1894470"/>
                <a:gd name="connsiteX2" fmla="*/ 2974063 w 3174863"/>
                <a:gd name="connsiteY2" fmla="*/ 1099934 h 1894470"/>
                <a:gd name="connsiteX3" fmla="*/ 3124663 w 3174863"/>
                <a:gd name="connsiteY3" fmla="*/ 1844461 h 1894470"/>
                <a:gd name="connsiteX4" fmla="*/ 3098493 w 3174863"/>
                <a:gd name="connsiteY4" fmla="*/ 1894470 h 1894470"/>
                <a:gd name="connsiteX5" fmla="*/ 75827 w 3174863"/>
                <a:gd name="connsiteY5" fmla="*/ 1894470 h 1894470"/>
                <a:gd name="connsiteX6" fmla="*/ 50201 w 3174863"/>
                <a:gd name="connsiteY6" fmla="*/ 1845716 h 1894470"/>
                <a:gd name="connsiteX7" fmla="*/ 200800 w 3174863"/>
                <a:gd name="connsiteY7" fmla="*/ 1099934 h 1894470"/>
                <a:gd name="connsiteX8" fmla="*/ 1102166 w 3174863"/>
                <a:gd name="connsiteY8" fmla="*/ 200799 h 1894470"/>
                <a:gd name="connsiteX9" fmla="*/ 1587711 w 3174863"/>
                <a:gd name="connsiteY9" fmla="*/ 0 h 1894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894470">
                  <a:moveTo>
                    <a:pt x="1587711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98493" y="1894470"/>
                  </a:lnTo>
                  <a:lnTo>
                    <a:pt x="75827" y="1894470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1" y="0"/>
                  </a:cubicBezTo>
                  <a:close/>
                </a:path>
              </a:pathLst>
            </a:custGeom>
            <a:blipFill>
              <a:blip r:embed="rId3"/>
              <a:stretch>
                <a:fillRect l="-27274" t="-107543" r="-204276" b="-116325"/>
              </a:stretch>
            </a:blip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8716334" y="4970097"/>
              <a:ext cx="3174863" cy="1919483"/>
            </a:xfrm>
            <a:custGeom>
              <a:avLst/>
              <a:gdLst>
                <a:gd name="connsiteX0" fmla="*/ 1587710 w 3174863"/>
                <a:gd name="connsiteY0" fmla="*/ 0 h 1919483"/>
                <a:gd name="connsiteX1" fmla="*/ 2074928 w 3174863"/>
                <a:gd name="connsiteY1" fmla="*/ 200799 h 1919483"/>
                <a:gd name="connsiteX2" fmla="*/ 2974063 w 3174863"/>
                <a:gd name="connsiteY2" fmla="*/ 1099934 h 1919483"/>
                <a:gd name="connsiteX3" fmla="*/ 3124663 w 3174863"/>
                <a:gd name="connsiteY3" fmla="*/ 1844461 h 1919483"/>
                <a:gd name="connsiteX4" fmla="*/ 3085403 w 3174863"/>
                <a:gd name="connsiteY4" fmla="*/ 1919483 h 1919483"/>
                <a:gd name="connsiteX5" fmla="*/ 88973 w 3174863"/>
                <a:gd name="connsiteY5" fmla="*/ 1919483 h 1919483"/>
                <a:gd name="connsiteX6" fmla="*/ 50201 w 3174863"/>
                <a:gd name="connsiteY6" fmla="*/ 1845716 h 1919483"/>
                <a:gd name="connsiteX7" fmla="*/ 200800 w 3174863"/>
                <a:gd name="connsiteY7" fmla="*/ 1099934 h 1919483"/>
                <a:gd name="connsiteX8" fmla="*/ 1102166 w 3174863"/>
                <a:gd name="connsiteY8" fmla="*/ 200799 h 1919483"/>
                <a:gd name="connsiteX9" fmla="*/ 1587710 w 3174863"/>
                <a:gd name="connsiteY9" fmla="*/ 0 h 191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919483">
                  <a:moveTo>
                    <a:pt x="1587710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85403" y="1919483"/>
                  </a:lnTo>
                  <a:lnTo>
                    <a:pt x="88973" y="1919483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0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40000"/>
                    <a:lumOff val="60000"/>
                  </a:schemeClr>
                </a:gs>
                <a:gs pos="93860">
                  <a:schemeClr val="accent3">
                    <a:lumMod val="20000"/>
                    <a:lumOff val="80000"/>
                  </a:schemeClr>
                </a:gs>
                <a:gs pos="73000">
                  <a:schemeClr val="accent3"/>
                </a:gs>
              </a:gsLst>
              <a:path path="circle">
                <a:fillToRect r="100000" b="100000"/>
              </a:path>
              <a:tileRect l="-100000" t="-100000"/>
            </a:gra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8677212" y="981014"/>
              <a:ext cx="3235101" cy="3235101"/>
            </a:xfrm>
            <a:custGeom>
              <a:avLst/>
              <a:gdLst>
                <a:gd name="connsiteX0" fmla="*/ 1141288 w 3235101"/>
                <a:gd name="connsiteY0" fmla="*/ 3013185 h 3235101"/>
                <a:gd name="connsiteX1" fmla="*/ 239922 w 3235101"/>
                <a:gd name="connsiteY1" fmla="*/ 2111819 h 3235101"/>
                <a:gd name="connsiteX2" fmla="*/ 239922 w 3235101"/>
                <a:gd name="connsiteY2" fmla="*/ 1139057 h 3235101"/>
                <a:gd name="connsiteX3" fmla="*/ 1141288 w 3235101"/>
                <a:gd name="connsiteY3" fmla="*/ 239922 h 3235101"/>
                <a:gd name="connsiteX4" fmla="*/ 2114050 w 3235101"/>
                <a:gd name="connsiteY4" fmla="*/ 239922 h 3235101"/>
                <a:gd name="connsiteX5" fmla="*/ 3013185 w 3235101"/>
                <a:gd name="connsiteY5" fmla="*/ 1139057 h 3235101"/>
                <a:gd name="connsiteX6" fmla="*/ 3013185 w 3235101"/>
                <a:gd name="connsiteY6" fmla="*/ 2111819 h 3235101"/>
                <a:gd name="connsiteX7" fmla="*/ 2114050 w 3235101"/>
                <a:gd name="connsiteY7" fmla="*/ 3010954 h 3235101"/>
                <a:gd name="connsiteX8" fmla="*/ 1141288 w 3235101"/>
                <a:gd name="connsiteY8" fmla="*/ 3013185 h 323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5101" h="3235101">
                  <a:moveTo>
                    <a:pt x="1141288" y="3013185"/>
                  </a:moveTo>
                  <a:lnTo>
                    <a:pt x="239922" y="2111819"/>
                  </a:lnTo>
                  <a:cubicBezTo>
                    <a:pt x="-27810" y="1844086"/>
                    <a:pt x="-27810" y="1409021"/>
                    <a:pt x="239922" y="1139057"/>
                  </a:cubicBezTo>
                  <a:lnTo>
                    <a:pt x="1141288" y="239922"/>
                  </a:lnTo>
                  <a:cubicBezTo>
                    <a:pt x="1409021" y="-27810"/>
                    <a:pt x="1844086" y="-27810"/>
                    <a:pt x="2114050" y="239922"/>
                  </a:cubicBezTo>
                  <a:lnTo>
                    <a:pt x="3013185" y="1139057"/>
                  </a:lnTo>
                  <a:cubicBezTo>
                    <a:pt x="3280918" y="1406790"/>
                    <a:pt x="3280918" y="1841855"/>
                    <a:pt x="3013185" y="2111819"/>
                  </a:cubicBezTo>
                  <a:lnTo>
                    <a:pt x="2114050" y="3010954"/>
                  </a:lnTo>
                  <a:cubicBezTo>
                    <a:pt x="1844086" y="3280918"/>
                    <a:pt x="1409021" y="3280918"/>
                    <a:pt x="1141288" y="3013185"/>
                  </a:cubicBezTo>
                  <a:close/>
                </a:path>
              </a:pathLst>
            </a:custGeom>
            <a:blipFill>
              <a:blip r:embed="rId3"/>
              <a:srcRect/>
              <a:stretch>
                <a:fillRect l="-2894" r="-2894"/>
              </a:stretch>
            </a:blip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6667538" y="2962022"/>
              <a:ext cx="3235101" cy="3235101"/>
            </a:xfrm>
            <a:custGeom>
              <a:avLst/>
              <a:gdLst>
                <a:gd name="connsiteX0" fmla="*/ 1141288 w 3235101"/>
                <a:gd name="connsiteY0" fmla="*/ 3013185 h 3235101"/>
                <a:gd name="connsiteX1" fmla="*/ 239922 w 3235101"/>
                <a:gd name="connsiteY1" fmla="*/ 2111819 h 3235101"/>
                <a:gd name="connsiteX2" fmla="*/ 239922 w 3235101"/>
                <a:gd name="connsiteY2" fmla="*/ 1139057 h 3235101"/>
                <a:gd name="connsiteX3" fmla="*/ 1141288 w 3235101"/>
                <a:gd name="connsiteY3" fmla="*/ 239922 h 3235101"/>
                <a:gd name="connsiteX4" fmla="*/ 2114050 w 3235101"/>
                <a:gd name="connsiteY4" fmla="*/ 239922 h 3235101"/>
                <a:gd name="connsiteX5" fmla="*/ 3013185 w 3235101"/>
                <a:gd name="connsiteY5" fmla="*/ 1139057 h 3235101"/>
                <a:gd name="connsiteX6" fmla="*/ 3013185 w 3235101"/>
                <a:gd name="connsiteY6" fmla="*/ 2111819 h 3235101"/>
                <a:gd name="connsiteX7" fmla="*/ 2114050 w 3235101"/>
                <a:gd name="connsiteY7" fmla="*/ 3010954 h 3235101"/>
                <a:gd name="connsiteX8" fmla="*/ 1141288 w 3235101"/>
                <a:gd name="connsiteY8" fmla="*/ 3013185 h 323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5101" h="3235101">
                  <a:moveTo>
                    <a:pt x="1141288" y="3013185"/>
                  </a:moveTo>
                  <a:lnTo>
                    <a:pt x="239922" y="2111819"/>
                  </a:lnTo>
                  <a:cubicBezTo>
                    <a:pt x="-27810" y="1844086"/>
                    <a:pt x="-27810" y="1409021"/>
                    <a:pt x="239922" y="1139057"/>
                  </a:cubicBezTo>
                  <a:lnTo>
                    <a:pt x="1141288" y="239922"/>
                  </a:lnTo>
                  <a:cubicBezTo>
                    <a:pt x="1409021" y="-27810"/>
                    <a:pt x="1844086" y="-27810"/>
                    <a:pt x="2114050" y="239922"/>
                  </a:cubicBezTo>
                  <a:lnTo>
                    <a:pt x="3013185" y="1139057"/>
                  </a:lnTo>
                  <a:cubicBezTo>
                    <a:pt x="3280918" y="1406790"/>
                    <a:pt x="3280918" y="1841855"/>
                    <a:pt x="3013185" y="2111819"/>
                  </a:cubicBezTo>
                  <a:lnTo>
                    <a:pt x="2114050" y="3010954"/>
                  </a:lnTo>
                  <a:cubicBezTo>
                    <a:pt x="1844086" y="3280918"/>
                    <a:pt x="1409021" y="3280918"/>
                    <a:pt x="1141288" y="3013185"/>
                  </a:cubicBezTo>
                  <a:close/>
                </a:path>
              </a:pathLst>
            </a:custGeom>
            <a:blipFill>
              <a:blip r:embed="rId3"/>
              <a:srcRect/>
              <a:stretch>
                <a:fillRect l="-262452" t="-55711" r="-2038" b="-49691"/>
              </a:stretch>
            </a:blip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 dirty="0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8677212" y="2962022"/>
              <a:ext cx="3235101" cy="3235101"/>
            </a:xfrm>
            <a:custGeom>
              <a:avLst/>
              <a:gdLst>
                <a:gd name="connsiteX0" fmla="*/ 1141288 w 3235101"/>
                <a:gd name="connsiteY0" fmla="*/ 3013185 h 3235101"/>
                <a:gd name="connsiteX1" fmla="*/ 239922 w 3235101"/>
                <a:gd name="connsiteY1" fmla="*/ 2111819 h 3235101"/>
                <a:gd name="connsiteX2" fmla="*/ 239922 w 3235101"/>
                <a:gd name="connsiteY2" fmla="*/ 1139057 h 3235101"/>
                <a:gd name="connsiteX3" fmla="*/ 1141288 w 3235101"/>
                <a:gd name="connsiteY3" fmla="*/ 239922 h 3235101"/>
                <a:gd name="connsiteX4" fmla="*/ 2114050 w 3235101"/>
                <a:gd name="connsiteY4" fmla="*/ 239922 h 3235101"/>
                <a:gd name="connsiteX5" fmla="*/ 3013185 w 3235101"/>
                <a:gd name="connsiteY5" fmla="*/ 1139057 h 3235101"/>
                <a:gd name="connsiteX6" fmla="*/ 3013185 w 3235101"/>
                <a:gd name="connsiteY6" fmla="*/ 2111819 h 3235101"/>
                <a:gd name="connsiteX7" fmla="*/ 2114050 w 3235101"/>
                <a:gd name="connsiteY7" fmla="*/ 3010954 h 3235101"/>
                <a:gd name="connsiteX8" fmla="*/ 1141288 w 3235101"/>
                <a:gd name="connsiteY8" fmla="*/ 3013185 h 323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5101" h="3235101">
                  <a:moveTo>
                    <a:pt x="1141288" y="3013185"/>
                  </a:moveTo>
                  <a:lnTo>
                    <a:pt x="239922" y="2111819"/>
                  </a:lnTo>
                  <a:cubicBezTo>
                    <a:pt x="-27810" y="1844086"/>
                    <a:pt x="-27810" y="1409021"/>
                    <a:pt x="239922" y="1139057"/>
                  </a:cubicBezTo>
                  <a:lnTo>
                    <a:pt x="1141288" y="239922"/>
                  </a:lnTo>
                  <a:cubicBezTo>
                    <a:pt x="1409021" y="-27810"/>
                    <a:pt x="1844086" y="-27810"/>
                    <a:pt x="2114050" y="239922"/>
                  </a:cubicBezTo>
                  <a:lnTo>
                    <a:pt x="3013185" y="1139057"/>
                  </a:lnTo>
                  <a:cubicBezTo>
                    <a:pt x="3280918" y="1406790"/>
                    <a:pt x="3280918" y="1841855"/>
                    <a:pt x="3013185" y="2111819"/>
                  </a:cubicBezTo>
                  <a:lnTo>
                    <a:pt x="2114050" y="3010954"/>
                  </a:lnTo>
                  <a:cubicBezTo>
                    <a:pt x="1844086" y="3280918"/>
                    <a:pt x="1409021" y="3280918"/>
                    <a:pt x="1141288" y="3013185"/>
                  </a:cubicBezTo>
                  <a:close/>
                </a:path>
              </a:pathLst>
            </a:custGeom>
            <a:noFill/>
            <a:ln w="2227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4" name="任意多边形: 形状 13"/>
            <p:cNvSpPr/>
            <p:nvPr/>
          </p:nvSpPr>
          <p:spPr>
            <a:xfrm rot="16200000">
              <a:off x="9657025" y="2204810"/>
              <a:ext cx="3174863" cy="1919483"/>
            </a:xfrm>
            <a:custGeom>
              <a:avLst/>
              <a:gdLst>
                <a:gd name="connsiteX0" fmla="*/ 1587710 w 3174863"/>
                <a:gd name="connsiteY0" fmla="*/ 0 h 1919483"/>
                <a:gd name="connsiteX1" fmla="*/ 2074928 w 3174863"/>
                <a:gd name="connsiteY1" fmla="*/ 200799 h 1919483"/>
                <a:gd name="connsiteX2" fmla="*/ 2974063 w 3174863"/>
                <a:gd name="connsiteY2" fmla="*/ 1099934 h 1919483"/>
                <a:gd name="connsiteX3" fmla="*/ 3124663 w 3174863"/>
                <a:gd name="connsiteY3" fmla="*/ 1844461 h 1919483"/>
                <a:gd name="connsiteX4" fmla="*/ 3085403 w 3174863"/>
                <a:gd name="connsiteY4" fmla="*/ 1919483 h 1919483"/>
                <a:gd name="connsiteX5" fmla="*/ 88973 w 3174863"/>
                <a:gd name="connsiteY5" fmla="*/ 1919483 h 1919483"/>
                <a:gd name="connsiteX6" fmla="*/ 50201 w 3174863"/>
                <a:gd name="connsiteY6" fmla="*/ 1845716 h 1919483"/>
                <a:gd name="connsiteX7" fmla="*/ 200800 w 3174863"/>
                <a:gd name="connsiteY7" fmla="*/ 1099934 h 1919483"/>
                <a:gd name="connsiteX8" fmla="*/ 1102166 w 3174863"/>
                <a:gd name="connsiteY8" fmla="*/ 200799 h 1919483"/>
                <a:gd name="connsiteX9" fmla="*/ 1587710 w 3174863"/>
                <a:gd name="connsiteY9" fmla="*/ 0 h 191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919483">
                  <a:moveTo>
                    <a:pt x="1587710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85403" y="1919483"/>
                  </a:lnTo>
                  <a:lnTo>
                    <a:pt x="88973" y="1919483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0" y="0"/>
                  </a:cubicBezTo>
                  <a:close/>
                </a:path>
              </a:pathLst>
            </a:custGeom>
            <a:solidFill>
              <a:schemeClr val="accent3">
                <a:alpha val="28000"/>
              </a:schemeClr>
            </a:soli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6670617" y="5039643"/>
              <a:ext cx="3174863" cy="1849937"/>
            </a:xfrm>
            <a:custGeom>
              <a:avLst/>
              <a:gdLst>
                <a:gd name="connsiteX0" fmla="*/ 1587710 w 3174863"/>
                <a:gd name="connsiteY0" fmla="*/ 0 h 1919483"/>
                <a:gd name="connsiteX1" fmla="*/ 2074928 w 3174863"/>
                <a:gd name="connsiteY1" fmla="*/ 200799 h 1919483"/>
                <a:gd name="connsiteX2" fmla="*/ 2974063 w 3174863"/>
                <a:gd name="connsiteY2" fmla="*/ 1099934 h 1919483"/>
                <a:gd name="connsiteX3" fmla="*/ 3124663 w 3174863"/>
                <a:gd name="connsiteY3" fmla="*/ 1844461 h 1919483"/>
                <a:gd name="connsiteX4" fmla="*/ 3085403 w 3174863"/>
                <a:gd name="connsiteY4" fmla="*/ 1919483 h 1919483"/>
                <a:gd name="connsiteX5" fmla="*/ 88973 w 3174863"/>
                <a:gd name="connsiteY5" fmla="*/ 1919483 h 1919483"/>
                <a:gd name="connsiteX6" fmla="*/ 50201 w 3174863"/>
                <a:gd name="connsiteY6" fmla="*/ 1845716 h 1919483"/>
                <a:gd name="connsiteX7" fmla="*/ 200800 w 3174863"/>
                <a:gd name="connsiteY7" fmla="*/ 1099934 h 1919483"/>
                <a:gd name="connsiteX8" fmla="*/ 1102166 w 3174863"/>
                <a:gd name="connsiteY8" fmla="*/ 200799 h 1919483"/>
                <a:gd name="connsiteX9" fmla="*/ 1587710 w 3174863"/>
                <a:gd name="connsiteY9" fmla="*/ 0 h 191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919483">
                  <a:moveTo>
                    <a:pt x="1587710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85403" y="1919483"/>
                  </a:lnTo>
                  <a:lnTo>
                    <a:pt x="88973" y="1919483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0" y="0"/>
                  </a:cubicBezTo>
                  <a:close/>
                </a:path>
              </a:pathLst>
            </a:custGeom>
            <a:solidFill>
              <a:schemeClr val="accent3">
                <a:alpha val="28000"/>
              </a:schemeClr>
            </a:soli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0400" y="1852228"/>
            <a:ext cx="7730775" cy="2573034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16" name="页脚占位符 4"/>
          <p:cNvSpPr txBox="1"/>
          <p:nvPr userDrawn="1"/>
        </p:nvSpPr>
        <p:spPr>
          <a:xfrm>
            <a:off x="274661" y="6517073"/>
            <a:ext cx="375073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600" b="0" kern="1200">
                <a:solidFill>
                  <a:schemeClr val="accent4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cs typeface="+mn-ea"/>
              </a:rPr>
              <a:t>北京智车睿控信息技术有限公司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 flipH="1">
            <a:off x="10609942" y="144"/>
            <a:ext cx="1582057" cy="1684811"/>
            <a:chOff x="3406" y="144"/>
            <a:chExt cx="3852304" cy="4102509"/>
          </a:xfrm>
        </p:grpSpPr>
        <p:sp>
          <p:nvSpPr>
            <p:cNvPr id="7" name="任意多边形: 形状 6"/>
            <p:cNvSpPr/>
            <p:nvPr/>
          </p:nvSpPr>
          <p:spPr>
            <a:xfrm>
              <a:off x="620609" y="735299"/>
              <a:ext cx="3235101" cy="3235101"/>
            </a:xfrm>
            <a:custGeom>
              <a:avLst/>
              <a:gdLst>
                <a:gd name="connsiteX0" fmla="*/ 1141288 w 3235101"/>
                <a:gd name="connsiteY0" fmla="*/ 3013185 h 3235101"/>
                <a:gd name="connsiteX1" fmla="*/ 239922 w 3235101"/>
                <a:gd name="connsiteY1" fmla="*/ 2111819 h 3235101"/>
                <a:gd name="connsiteX2" fmla="*/ 239922 w 3235101"/>
                <a:gd name="connsiteY2" fmla="*/ 1139057 h 3235101"/>
                <a:gd name="connsiteX3" fmla="*/ 1141288 w 3235101"/>
                <a:gd name="connsiteY3" fmla="*/ 239922 h 3235101"/>
                <a:gd name="connsiteX4" fmla="*/ 2114050 w 3235101"/>
                <a:gd name="connsiteY4" fmla="*/ 239922 h 3235101"/>
                <a:gd name="connsiteX5" fmla="*/ 3013185 w 3235101"/>
                <a:gd name="connsiteY5" fmla="*/ 1139057 h 3235101"/>
                <a:gd name="connsiteX6" fmla="*/ 3013185 w 3235101"/>
                <a:gd name="connsiteY6" fmla="*/ 2111819 h 3235101"/>
                <a:gd name="connsiteX7" fmla="*/ 2114050 w 3235101"/>
                <a:gd name="connsiteY7" fmla="*/ 3010954 h 3235101"/>
                <a:gd name="connsiteX8" fmla="*/ 1141288 w 3235101"/>
                <a:gd name="connsiteY8" fmla="*/ 3013185 h 3235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35101" h="3235101">
                  <a:moveTo>
                    <a:pt x="1141288" y="3013185"/>
                  </a:moveTo>
                  <a:lnTo>
                    <a:pt x="239922" y="2111819"/>
                  </a:lnTo>
                  <a:cubicBezTo>
                    <a:pt x="-27810" y="1844086"/>
                    <a:pt x="-27810" y="1409021"/>
                    <a:pt x="239922" y="1139057"/>
                  </a:cubicBezTo>
                  <a:lnTo>
                    <a:pt x="1141288" y="239922"/>
                  </a:lnTo>
                  <a:cubicBezTo>
                    <a:pt x="1409021" y="-27810"/>
                    <a:pt x="1844086" y="-27810"/>
                    <a:pt x="2114050" y="239922"/>
                  </a:cubicBezTo>
                  <a:lnTo>
                    <a:pt x="3013185" y="1139057"/>
                  </a:lnTo>
                  <a:cubicBezTo>
                    <a:pt x="3280918" y="1406790"/>
                    <a:pt x="3280918" y="1841855"/>
                    <a:pt x="3013185" y="2111819"/>
                  </a:cubicBezTo>
                  <a:lnTo>
                    <a:pt x="2114050" y="3010954"/>
                  </a:lnTo>
                  <a:cubicBezTo>
                    <a:pt x="1844086" y="3280918"/>
                    <a:pt x="1409021" y="3280918"/>
                    <a:pt x="1141288" y="3013185"/>
                  </a:cubicBezTo>
                  <a:close/>
                </a:path>
              </a:pathLst>
            </a:custGeom>
            <a:noFill/>
            <a:ln w="22270" cap="flat">
              <a:solidFill>
                <a:schemeClr val="accent2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8" name="任意多边形: 形状 7"/>
            <p:cNvSpPr/>
            <p:nvPr/>
          </p:nvSpPr>
          <p:spPr>
            <a:xfrm rot="5400000">
              <a:off x="-624284" y="1555480"/>
              <a:ext cx="3174863" cy="1919483"/>
            </a:xfrm>
            <a:custGeom>
              <a:avLst/>
              <a:gdLst>
                <a:gd name="connsiteX0" fmla="*/ 1587710 w 3174863"/>
                <a:gd name="connsiteY0" fmla="*/ 0 h 1919483"/>
                <a:gd name="connsiteX1" fmla="*/ 2074928 w 3174863"/>
                <a:gd name="connsiteY1" fmla="*/ 200799 h 1919483"/>
                <a:gd name="connsiteX2" fmla="*/ 2974063 w 3174863"/>
                <a:gd name="connsiteY2" fmla="*/ 1099934 h 1919483"/>
                <a:gd name="connsiteX3" fmla="*/ 3124663 w 3174863"/>
                <a:gd name="connsiteY3" fmla="*/ 1844461 h 1919483"/>
                <a:gd name="connsiteX4" fmla="*/ 3085403 w 3174863"/>
                <a:gd name="connsiteY4" fmla="*/ 1919483 h 1919483"/>
                <a:gd name="connsiteX5" fmla="*/ 88973 w 3174863"/>
                <a:gd name="connsiteY5" fmla="*/ 1919483 h 1919483"/>
                <a:gd name="connsiteX6" fmla="*/ 50201 w 3174863"/>
                <a:gd name="connsiteY6" fmla="*/ 1845716 h 1919483"/>
                <a:gd name="connsiteX7" fmla="*/ 200800 w 3174863"/>
                <a:gd name="connsiteY7" fmla="*/ 1099934 h 1919483"/>
                <a:gd name="connsiteX8" fmla="*/ 1102166 w 3174863"/>
                <a:gd name="connsiteY8" fmla="*/ 200799 h 1919483"/>
                <a:gd name="connsiteX9" fmla="*/ 1587710 w 3174863"/>
                <a:gd name="connsiteY9" fmla="*/ 0 h 191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919483">
                  <a:moveTo>
                    <a:pt x="1587710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85403" y="1919483"/>
                  </a:lnTo>
                  <a:lnTo>
                    <a:pt x="88973" y="1919483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0" y="0"/>
                  </a:cubicBezTo>
                  <a:close/>
                </a:path>
              </a:pathLst>
            </a:custGeom>
            <a:solidFill>
              <a:schemeClr val="accent3">
                <a:alpha val="28000"/>
              </a:schemeClr>
            </a:soli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9" name="任意多边形: 形状 8"/>
            <p:cNvSpPr/>
            <p:nvPr/>
          </p:nvSpPr>
          <p:spPr>
            <a:xfrm rot="10800000">
              <a:off x="485662" y="144"/>
              <a:ext cx="3174863" cy="1919483"/>
            </a:xfrm>
            <a:custGeom>
              <a:avLst/>
              <a:gdLst>
                <a:gd name="connsiteX0" fmla="*/ 1587710 w 3174863"/>
                <a:gd name="connsiteY0" fmla="*/ 0 h 1919483"/>
                <a:gd name="connsiteX1" fmla="*/ 2074928 w 3174863"/>
                <a:gd name="connsiteY1" fmla="*/ 200799 h 1919483"/>
                <a:gd name="connsiteX2" fmla="*/ 2974063 w 3174863"/>
                <a:gd name="connsiteY2" fmla="*/ 1099934 h 1919483"/>
                <a:gd name="connsiteX3" fmla="*/ 3124663 w 3174863"/>
                <a:gd name="connsiteY3" fmla="*/ 1844461 h 1919483"/>
                <a:gd name="connsiteX4" fmla="*/ 3085403 w 3174863"/>
                <a:gd name="connsiteY4" fmla="*/ 1919483 h 1919483"/>
                <a:gd name="connsiteX5" fmla="*/ 88973 w 3174863"/>
                <a:gd name="connsiteY5" fmla="*/ 1919483 h 1919483"/>
                <a:gd name="connsiteX6" fmla="*/ 50201 w 3174863"/>
                <a:gd name="connsiteY6" fmla="*/ 1845716 h 1919483"/>
                <a:gd name="connsiteX7" fmla="*/ 200800 w 3174863"/>
                <a:gd name="connsiteY7" fmla="*/ 1099934 h 1919483"/>
                <a:gd name="connsiteX8" fmla="*/ 1102166 w 3174863"/>
                <a:gd name="connsiteY8" fmla="*/ 200799 h 1919483"/>
                <a:gd name="connsiteX9" fmla="*/ 1587710 w 3174863"/>
                <a:gd name="connsiteY9" fmla="*/ 0 h 191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174863" h="1919483">
                  <a:moveTo>
                    <a:pt x="1587710" y="0"/>
                  </a:moveTo>
                  <a:cubicBezTo>
                    <a:pt x="1763689" y="0"/>
                    <a:pt x="1939946" y="66933"/>
                    <a:pt x="2074928" y="200799"/>
                  </a:cubicBezTo>
                  <a:lnTo>
                    <a:pt x="2974063" y="1099934"/>
                  </a:lnTo>
                  <a:cubicBezTo>
                    <a:pt x="3174863" y="1300734"/>
                    <a:pt x="3225063" y="1595658"/>
                    <a:pt x="3124663" y="1844461"/>
                  </a:cubicBezTo>
                  <a:lnTo>
                    <a:pt x="3085403" y="1919483"/>
                  </a:lnTo>
                  <a:lnTo>
                    <a:pt x="88973" y="1919483"/>
                  </a:lnTo>
                  <a:lnTo>
                    <a:pt x="50201" y="1845716"/>
                  </a:lnTo>
                  <a:cubicBezTo>
                    <a:pt x="-50199" y="1597750"/>
                    <a:pt x="1" y="1302407"/>
                    <a:pt x="200800" y="1099934"/>
                  </a:cubicBezTo>
                  <a:lnTo>
                    <a:pt x="1102166" y="200799"/>
                  </a:lnTo>
                  <a:cubicBezTo>
                    <a:pt x="1236033" y="66933"/>
                    <a:pt x="1411732" y="0"/>
                    <a:pt x="1587710" y="0"/>
                  </a:cubicBezTo>
                  <a:close/>
                </a:path>
              </a:pathLst>
            </a:custGeom>
            <a:solidFill>
              <a:schemeClr val="accent3">
                <a:alpha val="28000"/>
              </a:schemeClr>
            </a:solidFill>
            <a:ln w="2227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11" name="任意多边形: 形状 10"/>
          <p:cNvSpPr/>
          <p:nvPr/>
        </p:nvSpPr>
        <p:spPr>
          <a:xfrm rot="10800000">
            <a:off x="-6119" y="5326742"/>
            <a:ext cx="988275" cy="1531406"/>
          </a:xfrm>
          <a:custGeom>
            <a:avLst/>
            <a:gdLst>
              <a:gd name="connsiteX0" fmla="*/ 352293 w 1421779"/>
              <a:gd name="connsiteY0" fmla="*/ 0 h 2203153"/>
              <a:gd name="connsiteX1" fmla="*/ 1421779 w 1421779"/>
              <a:gd name="connsiteY1" fmla="*/ 0 h 2203153"/>
              <a:gd name="connsiteX2" fmla="*/ 1421779 w 1421779"/>
              <a:gd name="connsiteY2" fmla="*/ 2203153 h 2203153"/>
              <a:gd name="connsiteX3" fmla="*/ 1329145 w 1421779"/>
              <a:gd name="connsiteY3" fmla="*/ 2175812 h 2203153"/>
              <a:gd name="connsiteX4" fmla="*/ 1102165 w 1421779"/>
              <a:gd name="connsiteY4" fmla="*/ 2025247 h 2203153"/>
              <a:gd name="connsiteX5" fmla="*/ 200799 w 1421779"/>
              <a:gd name="connsiteY5" fmla="*/ 1123881 h 2203153"/>
              <a:gd name="connsiteX6" fmla="*/ 200799 w 1421779"/>
              <a:gd name="connsiteY6" fmla="*/ 151119 h 2203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21779" h="2203153">
                <a:moveTo>
                  <a:pt x="352293" y="0"/>
                </a:moveTo>
                <a:lnTo>
                  <a:pt x="1421779" y="0"/>
                </a:lnTo>
                <a:lnTo>
                  <a:pt x="1421779" y="2203153"/>
                </a:lnTo>
                <a:lnTo>
                  <a:pt x="1329145" y="2175812"/>
                </a:lnTo>
                <a:cubicBezTo>
                  <a:pt x="1246490" y="2142380"/>
                  <a:pt x="1169098" y="2092180"/>
                  <a:pt x="1102165" y="2025247"/>
                </a:cubicBezTo>
                <a:lnTo>
                  <a:pt x="200799" y="1123881"/>
                </a:lnTo>
                <a:cubicBezTo>
                  <a:pt x="-66933" y="856148"/>
                  <a:pt x="-66933" y="421083"/>
                  <a:pt x="200799" y="151119"/>
                </a:cubicBezTo>
                <a:close/>
              </a:path>
            </a:pathLst>
          </a:custGeom>
          <a:gradFill>
            <a:gsLst>
              <a:gs pos="0">
                <a:schemeClr val="accent4">
                  <a:lumMod val="20000"/>
                  <a:lumOff val="80000"/>
                </a:schemeClr>
              </a:gs>
              <a:gs pos="74000">
                <a:schemeClr val="accent4"/>
              </a:gs>
              <a:gs pos="100000">
                <a:schemeClr val="accent4"/>
              </a:gs>
            </a:gsLst>
            <a:lin ang="5400000" scaled="1"/>
          </a:gradFill>
          <a:ln w="22270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4.png"/><Relationship Id="rId16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jpeg"/><Relationship Id="rId9" Type="http://schemas.openxmlformats.org/officeDocument/2006/relationships/image" Target="../media/image13.jpe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60399" y="1990166"/>
            <a:ext cx="7329357" cy="1330156"/>
          </a:xfrm>
        </p:spPr>
        <p:txBody>
          <a:bodyPr>
            <a:normAutofit/>
          </a:bodyPr>
          <a:lstStyle/>
          <a:p>
            <a:pPr algn="ctr"/>
            <a:r>
              <a:rPr lang="zh-CN" altLang="en-US" sz="40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</a:rPr>
              <a:t>网约车风险解决方案</a:t>
            </a:r>
            <a:endParaRPr lang="en-US" sz="4000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>
            <a:grpSpLocks noChangeAspect="1"/>
          </p:cNvGrpSpPr>
          <p:nvPr/>
        </p:nvGrpSpPr>
        <p:grpSpPr>
          <a:xfrm>
            <a:off x="2722834" y="2499522"/>
            <a:ext cx="5457608" cy="3932982"/>
            <a:chOff x="2579649" y="1445127"/>
            <a:chExt cx="7032702" cy="5068061"/>
          </a:xfrm>
        </p:grpSpPr>
        <p:sp>
          <p:nvSpPr>
            <p:cNvPr id="3" name="椭圆 2"/>
            <p:cNvSpPr/>
            <p:nvPr/>
          </p:nvSpPr>
          <p:spPr>
            <a:xfrm>
              <a:off x="2579649" y="4119376"/>
              <a:ext cx="7032702" cy="2393812"/>
            </a:xfrm>
            <a:prstGeom prst="ellipse">
              <a:avLst/>
            </a:prstGeom>
            <a:gradFill flip="none" rotWithShape="1">
              <a:gsLst>
                <a:gs pos="100000">
                  <a:srgbClr val="22FCFE">
                    <a:alpha val="16000"/>
                  </a:srgbClr>
                </a:gs>
                <a:gs pos="0">
                  <a:srgbClr val="22FCFE">
                    <a:alpha val="0"/>
                  </a:srgbClr>
                </a:gs>
              </a:gsLst>
              <a:lin ang="5400000" scaled="1"/>
              <a:tileRect/>
            </a:gradFill>
            <a:ln w="9525" cap="flat" cmpd="sng" algn="ctr">
              <a:gradFill>
                <a:gsLst>
                  <a:gs pos="100000">
                    <a:srgbClr val="22FCFE"/>
                  </a:gs>
                  <a:gs pos="16000">
                    <a:srgbClr val="22FCFE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527">
                <a:defRPr/>
              </a:pPr>
              <a:endParaRPr lang="zh-CN" altLang="en-US" sz="1801" kern="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3880624" y="4081434"/>
              <a:ext cx="4430752" cy="1508152"/>
            </a:xfrm>
            <a:prstGeom prst="ellipse">
              <a:avLst/>
            </a:prstGeom>
            <a:gradFill flip="none" rotWithShape="1">
              <a:gsLst>
                <a:gs pos="100000">
                  <a:srgbClr val="22FCFE">
                    <a:alpha val="16000"/>
                  </a:srgbClr>
                </a:gs>
                <a:gs pos="0">
                  <a:srgbClr val="22FCFE">
                    <a:alpha val="0"/>
                  </a:srgbClr>
                </a:gs>
              </a:gsLst>
              <a:lin ang="5400000" scaled="1"/>
              <a:tileRect/>
            </a:gradFill>
            <a:ln w="9525" cap="flat" cmpd="sng" algn="ctr">
              <a:gradFill>
                <a:gsLst>
                  <a:gs pos="100000">
                    <a:srgbClr val="22FCFE"/>
                  </a:gs>
                  <a:gs pos="16000">
                    <a:srgbClr val="22FCFE">
                      <a:alpha val="0"/>
                    </a:srgb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527">
                <a:defRPr/>
              </a:pPr>
              <a:endParaRPr lang="zh-CN" altLang="en-US" sz="1801" kern="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4704572" y="3939217"/>
              <a:ext cx="2786736" cy="948558"/>
            </a:xfrm>
            <a:prstGeom prst="ellipse">
              <a:avLst/>
            </a:prstGeom>
            <a:solidFill>
              <a:srgbClr val="22FCFE">
                <a:alpha val="15000"/>
              </a:srgbClr>
            </a:solidFill>
            <a:ln w="6350" cap="flat" cmpd="sng" algn="ctr">
              <a:gradFill>
                <a:gsLst>
                  <a:gs pos="0">
                    <a:srgbClr val="22FCFE">
                      <a:alpha val="0"/>
                    </a:srgbClr>
                  </a:gs>
                  <a:gs pos="100000">
                    <a:srgbClr val="22FCFE"/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527">
                <a:defRPr/>
              </a:pPr>
              <a:endParaRPr lang="zh-CN" altLang="en-US" sz="1801" kern="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4467860" y="3991031"/>
              <a:ext cx="3256280" cy="1209748"/>
              <a:chOff x="4256995" y="4024267"/>
              <a:chExt cx="3678010" cy="1366426"/>
            </a:xfrm>
          </p:grpSpPr>
          <p:sp>
            <p:nvSpPr>
              <p:cNvPr id="19" name="椭圆 18"/>
              <p:cNvSpPr/>
              <p:nvPr/>
            </p:nvSpPr>
            <p:spPr>
              <a:xfrm>
                <a:off x="4256995" y="4024267"/>
                <a:ext cx="3678010" cy="1247324"/>
              </a:xfrm>
              <a:prstGeom prst="ellipse">
                <a:avLst/>
              </a:prstGeom>
              <a:noFill/>
              <a:ln w="6350" cap="flat" cmpd="sng" algn="ctr">
                <a:gradFill>
                  <a:gsLst>
                    <a:gs pos="0">
                      <a:srgbClr val="00FFFF">
                        <a:alpha val="0"/>
                      </a:srgbClr>
                    </a:gs>
                    <a:gs pos="100000">
                      <a:srgbClr val="00FFFF"/>
                    </a:gs>
                  </a:gsLst>
                  <a:lin ang="5400000" scaled="1"/>
                </a:gra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527">
                  <a:defRPr/>
                </a:pPr>
                <a:endParaRPr lang="zh-CN" altLang="en-US" sz="1801" kern="0" dirty="0">
                  <a:solidFill>
                    <a:schemeClr val="tx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4256995" y="4083820"/>
                <a:ext cx="3678010" cy="1247324"/>
              </a:xfrm>
              <a:prstGeom prst="ellipse">
                <a:avLst/>
              </a:prstGeom>
              <a:noFill/>
              <a:ln w="6350" cap="flat" cmpd="sng" algn="ctr">
                <a:gradFill>
                  <a:gsLst>
                    <a:gs pos="0">
                      <a:srgbClr val="00FFFF">
                        <a:alpha val="0"/>
                      </a:srgbClr>
                    </a:gs>
                    <a:gs pos="100000">
                      <a:srgbClr val="00FFFF"/>
                    </a:gs>
                  </a:gsLst>
                  <a:lin ang="5400000" scaled="1"/>
                </a:gra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527">
                  <a:defRPr/>
                </a:pPr>
                <a:endParaRPr lang="zh-CN" altLang="en-US" sz="1801" kern="0" dirty="0">
                  <a:solidFill>
                    <a:schemeClr val="tx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  <p:sp>
            <p:nvSpPr>
              <p:cNvPr id="21" name="椭圆 20"/>
              <p:cNvSpPr/>
              <p:nvPr/>
            </p:nvSpPr>
            <p:spPr>
              <a:xfrm>
                <a:off x="4256995" y="4143369"/>
                <a:ext cx="3678010" cy="1247324"/>
              </a:xfrm>
              <a:prstGeom prst="ellipse">
                <a:avLst/>
              </a:prstGeom>
              <a:noFill/>
              <a:ln w="6350" cap="flat" cmpd="sng" algn="ctr">
                <a:gradFill>
                  <a:gsLst>
                    <a:gs pos="0">
                      <a:srgbClr val="00FFFF">
                        <a:alpha val="0"/>
                      </a:srgbClr>
                    </a:gs>
                    <a:gs pos="100000">
                      <a:srgbClr val="00FFFF"/>
                    </a:gs>
                  </a:gsLst>
                  <a:lin ang="5400000" scaled="1"/>
                </a:gradFill>
                <a:prstDash val="dash"/>
                <a:miter lim="800000"/>
              </a:ln>
              <a:effectLst/>
            </p:spPr>
            <p:txBody>
              <a:bodyPr rtlCol="0" anchor="ctr"/>
              <a:lstStyle/>
              <a:p>
                <a:pPr algn="ctr" defTabSz="914527">
                  <a:defRPr/>
                </a:pPr>
                <a:endParaRPr lang="zh-CN" altLang="en-US" sz="1801" kern="0" dirty="0">
                  <a:solidFill>
                    <a:schemeClr val="tx2"/>
                  </a:solidFill>
                  <a:latin typeface="思源黑体 CN Bold" panose="020B0800000000000000" pitchFamily="34" charset="-122"/>
                  <a:ea typeface="思源黑体 CN Bold" panose="020B0800000000000000" pitchFamily="34" charset="-122"/>
                </a:endParaRPr>
              </a:p>
            </p:txBody>
          </p:sp>
        </p:grpSp>
        <p:sp>
          <p:nvSpPr>
            <p:cNvPr id="7" name="梯形 6"/>
            <p:cNvSpPr/>
            <p:nvPr/>
          </p:nvSpPr>
          <p:spPr>
            <a:xfrm rot="10800000">
              <a:off x="4040121" y="1676561"/>
              <a:ext cx="4111760" cy="2885705"/>
            </a:xfrm>
            <a:prstGeom prst="trapezoid">
              <a:avLst>
                <a:gd name="adj" fmla="val 21230"/>
              </a:avLst>
            </a:prstGeom>
            <a:gradFill flip="none" rotWithShape="1">
              <a:gsLst>
                <a:gs pos="0">
                  <a:srgbClr val="22FCFE">
                    <a:alpha val="0"/>
                  </a:srgbClr>
                </a:gs>
                <a:gs pos="100000">
                  <a:srgbClr val="22FCFE">
                    <a:alpha val="0"/>
                  </a:srgbClr>
                </a:gs>
                <a:gs pos="59000">
                  <a:srgbClr val="22FCFE">
                    <a:alpha val="25000"/>
                  </a:srgbClr>
                </a:gs>
                <a:gs pos="24000">
                  <a:srgbClr val="22FCFE">
                    <a:alpha val="15000"/>
                  </a:srgbClr>
                </a:gs>
              </a:gsLst>
              <a:lin ang="162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527">
                <a:defRPr/>
              </a:pPr>
              <a:endParaRPr lang="zh-CN" altLang="en-US" sz="1801" kern="0" dirty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926325" y="4985487"/>
              <a:ext cx="4478667" cy="373636"/>
            </a:xfrm>
            <a:prstGeom prst="rect">
              <a:avLst/>
            </a:prstGeom>
          </p:spPr>
          <p:txBody>
            <a:bodyPr wrap="square">
              <a:prstTxWarp prst="textArchDown">
                <a:avLst>
                  <a:gd name="adj" fmla="val 21432985"/>
                </a:avLst>
              </a:prstTxWarp>
              <a:spAutoFit/>
            </a:bodyPr>
            <a:lstStyle/>
            <a:p>
              <a:pPr algn="ctr">
                <a:defRPr/>
              </a:pPr>
              <a:r>
                <a:rPr lang="zh-CN" altLang="en-US" sz="2001" b="1" spc="600" dirty="0">
                  <a:solidFill>
                    <a:schemeClr val="tx2"/>
                  </a:solidFill>
                  <a:effectLst>
                    <a:outerShdw blurRad="139700" dist="38100" dir="5400000" algn="t" rotWithShape="0">
                      <a:prstClr val="black">
                        <a:alpha val="2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智车睿控数 智化解决方案</a:t>
              </a:r>
            </a:p>
          </p:txBody>
        </p:sp>
        <p:sp>
          <p:nvSpPr>
            <p:cNvPr id="9" name="矩形 8"/>
            <p:cNvSpPr/>
            <p:nvPr/>
          </p:nvSpPr>
          <p:spPr>
            <a:xfrm>
              <a:off x="4668965" y="5758998"/>
              <a:ext cx="1295568" cy="7538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1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数据中台</a:t>
              </a:r>
              <a:endParaRPr lang="en-US" altLang="zh-CN" sz="1601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defRPr/>
              </a:pPr>
              <a:r>
                <a:rPr lang="zh-CN" altLang="en-US" sz="1601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系统</a:t>
              </a:r>
            </a:p>
          </p:txBody>
        </p:sp>
        <p:sp>
          <p:nvSpPr>
            <p:cNvPr id="10" name="矩形 9"/>
            <p:cNvSpPr/>
            <p:nvPr/>
          </p:nvSpPr>
          <p:spPr>
            <a:xfrm>
              <a:off x="3163302" y="5397563"/>
              <a:ext cx="1295568" cy="107132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endParaRPr lang="zh-CN" altLang="en-US" sz="1601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defRPr/>
              </a:pPr>
              <a:r>
                <a:rPr lang="zh-CN" altLang="en-US" sz="1601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自动驾驶</a:t>
              </a:r>
              <a:endParaRPr lang="en-US" altLang="zh-CN" sz="1601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defRPr/>
              </a:pPr>
              <a:r>
                <a:rPr lang="zh-CN" altLang="en-US" sz="1601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风控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6229819" y="5758998"/>
              <a:ext cx="1295568" cy="7538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1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细分市场</a:t>
              </a:r>
            </a:p>
            <a:p>
              <a:pPr algn="ctr">
                <a:defRPr/>
              </a:pPr>
              <a:r>
                <a:rPr lang="zh-CN" altLang="en-US" sz="1601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数据体系</a:t>
              </a:r>
            </a:p>
          </p:txBody>
        </p:sp>
        <p:sp>
          <p:nvSpPr>
            <p:cNvPr id="12" name="椭圆 11"/>
            <p:cNvSpPr/>
            <p:nvPr/>
          </p:nvSpPr>
          <p:spPr>
            <a:xfrm>
              <a:off x="5414662" y="1445127"/>
              <a:ext cx="1344500" cy="1344502"/>
            </a:xfrm>
            <a:prstGeom prst="ellipse">
              <a:avLst/>
            </a:prstGeom>
            <a:gradFill flip="none" rotWithShape="1">
              <a:gsLst>
                <a:gs pos="29000">
                  <a:srgbClr val="0D1752">
                    <a:alpha val="0"/>
                  </a:srgbClr>
                </a:gs>
                <a:gs pos="100000">
                  <a:srgbClr val="22FCFE">
                    <a:alpha val="36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527">
                <a:defRPr/>
              </a:pPr>
              <a:endParaRPr lang="zh-CN" altLang="en-US" sz="1801" kern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6054995" y="2533231"/>
              <a:ext cx="1344500" cy="1344502"/>
            </a:xfrm>
            <a:prstGeom prst="ellipse">
              <a:avLst/>
            </a:prstGeom>
            <a:gradFill flip="none" rotWithShape="1">
              <a:gsLst>
                <a:gs pos="29000">
                  <a:srgbClr val="0D1752">
                    <a:alpha val="0"/>
                  </a:srgbClr>
                </a:gs>
                <a:gs pos="100000">
                  <a:srgbClr val="22FCFE">
                    <a:alpha val="36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527">
                <a:defRPr/>
              </a:pPr>
              <a:endParaRPr lang="zh-CN" altLang="en-US" sz="1801" kern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4792503" y="2522742"/>
              <a:ext cx="1344500" cy="1344502"/>
            </a:xfrm>
            <a:prstGeom prst="ellipse">
              <a:avLst/>
            </a:prstGeom>
            <a:gradFill flip="none" rotWithShape="1">
              <a:gsLst>
                <a:gs pos="29000">
                  <a:srgbClr val="0D1752">
                    <a:alpha val="0"/>
                  </a:srgbClr>
                </a:gs>
                <a:gs pos="100000">
                  <a:srgbClr val="22FCFE">
                    <a:alpha val="36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 defTabSz="914527">
                <a:defRPr/>
              </a:pPr>
              <a:endParaRPr lang="zh-CN" altLang="en-US" sz="1801" kern="0">
                <a:solidFill>
                  <a:schemeClr val="tx2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343868" y="2913094"/>
              <a:ext cx="766765" cy="7538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527">
                <a:defRPr/>
              </a:pPr>
              <a:r>
                <a:rPr lang="zh-CN" altLang="en-US" sz="160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行业</a:t>
              </a:r>
              <a:endParaRPr lang="en-US" altLang="zh-CN" sz="160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527">
                <a:defRPr/>
              </a:pPr>
              <a:r>
                <a:rPr lang="zh-CN" altLang="en-US" sz="160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经验</a:t>
              </a:r>
            </a:p>
          </p:txBody>
        </p:sp>
        <p:sp>
          <p:nvSpPr>
            <p:cNvPr id="16" name="矩形 15"/>
            <p:cNvSpPr/>
            <p:nvPr/>
          </p:nvSpPr>
          <p:spPr>
            <a:xfrm>
              <a:off x="4949168" y="2902606"/>
              <a:ext cx="1031168" cy="43642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527">
                <a:defRPr/>
              </a:pPr>
              <a:r>
                <a:rPr lang="zh-CN" altLang="en-US" sz="160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大数据</a:t>
              </a:r>
            </a:p>
          </p:txBody>
        </p:sp>
        <p:sp>
          <p:nvSpPr>
            <p:cNvPr id="17" name="矩形 16"/>
            <p:cNvSpPr/>
            <p:nvPr/>
          </p:nvSpPr>
          <p:spPr>
            <a:xfrm>
              <a:off x="5703530" y="1824991"/>
              <a:ext cx="766765" cy="7538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 defTabSz="914527">
                <a:defRPr/>
              </a:pPr>
              <a:r>
                <a:rPr lang="zh-CN" altLang="en-US" sz="160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精算</a:t>
              </a:r>
              <a:endParaRPr lang="en-US" altLang="zh-CN" sz="160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defTabSz="914527">
                <a:defRPr/>
              </a:pPr>
              <a:r>
                <a:rPr lang="zh-CN" altLang="en-US" sz="160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</a:t>
              </a:r>
            </a:p>
          </p:txBody>
        </p:sp>
        <p:sp>
          <p:nvSpPr>
            <p:cNvPr id="18" name="矩形 17"/>
            <p:cNvSpPr/>
            <p:nvPr/>
          </p:nvSpPr>
          <p:spPr>
            <a:xfrm>
              <a:off x="7744885" y="5397561"/>
              <a:ext cx="1440164" cy="75387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1601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标准化</a:t>
              </a:r>
              <a:endParaRPr lang="en-US" altLang="zh-CN" sz="1601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algn="ctr">
                <a:defRPr/>
              </a:pPr>
              <a:r>
                <a:rPr lang="en-US" altLang="zh-CN" sz="1601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DaaS</a:t>
              </a:r>
              <a:r>
                <a:rPr lang="zh-CN" altLang="en-US" sz="1601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产品</a:t>
              </a:r>
            </a:p>
          </p:txBody>
        </p:sp>
      </p:grpSp>
      <p:sp>
        <p:nvSpPr>
          <p:cNvPr id="23" name="矩形 22"/>
          <p:cNvSpPr/>
          <p:nvPr/>
        </p:nvSpPr>
        <p:spPr>
          <a:xfrm>
            <a:off x="1083230" y="765124"/>
            <a:ext cx="10412531" cy="15216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277246" indent="-277246" algn="just" defTabSz="914527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en-US" altLang="zh-CN" sz="1698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</a:t>
            </a:r>
            <a:r>
              <a:rPr lang="zh-CN" altLang="en-US" sz="1698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深耕</a:t>
            </a:r>
            <a:r>
              <a:rPr lang="zh-CN" altLang="en-US" sz="1698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专业</a:t>
            </a:r>
            <a:r>
              <a:rPr lang="zh-CN" altLang="en-US" sz="1698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lang="zh-CN" altLang="en-US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公司专注于保险行业，依托精算技术、大数据及自动驾驶技术，赋能保险公司精细化经营</a:t>
            </a:r>
          </a:p>
          <a:p>
            <a:pPr marL="277246" indent="-277246" algn="just" defTabSz="914527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 sz="1698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团队资深：</a:t>
            </a:r>
            <a:r>
              <a:rPr lang="zh-CN" altLang="en-US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公司拥有强大的精算队伍，自动驾驶专家，大数据</a:t>
            </a:r>
            <a:r>
              <a:rPr lang="en-US" altLang="zh-CN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/</a:t>
            </a:r>
            <a:r>
              <a:rPr lang="zh-CN" altLang="en-US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大模型工程师，车险承保理赔专家和</a:t>
            </a:r>
            <a:r>
              <a:rPr lang="en-US" altLang="zh-CN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IT</a:t>
            </a:r>
            <a:r>
              <a:rPr lang="zh-CN" altLang="en-US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专家，</a:t>
            </a:r>
            <a:r>
              <a:rPr lang="en-US" altLang="zh-CN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98%</a:t>
            </a:r>
            <a:r>
              <a:rPr lang="zh-CN" altLang="en-US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的员工获得了本   科及以上学历</a:t>
            </a:r>
          </a:p>
          <a:p>
            <a:pPr marL="277246" indent="-277246" algn="just" defTabSz="914527">
              <a:lnSpc>
                <a:spcPct val="150000"/>
              </a:lnSpc>
              <a:buFont typeface="Wingdings" panose="05000000000000000000" charset="0"/>
              <a:buChar char="Ø"/>
              <a:defRPr/>
            </a:pPr>
            <a:r>
              <a:rPr lang="zh-CN" altLang="en-US" sz="1698" b="1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客户认可：</a:t>
            </a:r>
            <a:r>
              <a:rPr lang="zh-CN" altLang="en-US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自</a:t>
            </a:r>
            <a:r>
              <a:rPr lang="en-US" altLang="zh-CN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2020</a:t>
            </a:r>
            <a:r>
              <a:rPr lang="zh-CN" altLang="en-US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年成立以来，累计服务超过</a:t>
            </a:r>
            <a:r>
              <a:rPr lang="en-US" altLang="zh-CN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48</a:t>
            </a:r>
            <a:r>
              <a:rPr lang="zh-CN" altLang="en-US" sz="1698" dirty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家财产保险公司，专注车险市场。</a:t>
            </a:r>
            <a:endParaRPr lang="zh-CN" altLang="en-US" sz="1698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357768" y="317293"/>
            <a:ext cx="4707414" cy="492498"/>
            <a:chOff x="928" y="824"/>
            <a:chExt cx="12225" cy="1279"/>
          </a:xfrm>
        </p:grpSpPr>
        <p:sp>
          <p:nvSpPr>
            <p:cNvPr id="41" name="矩形 40"/>
            <p:cNvSpPr/>
            <p:nvPr/>
          </p:nvSpPr>
          <p:spPr>
            <a:xfrm>
              <a:off x="2750" y="985"/>
              <a:ext cx="10403" cy="101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 defTabSz="914527">
                <a:defRPr/>
              </a:pPr>
              <a:r>
                <a:rPr lang="zh-CN" altLang="en-US" sz="2547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公司简介</a:t>
              </a:r>
            </a:p>
          </p:txBody>
        </p:sp>
        <p:grpSp>
          <p:nvGrpSpPr>
            <p:cNvPr id="43" name="组合 42"/>
            <p:cNvGrpSpPr/>
            <p:nvPr/>
          </p:nvGrpSpPr>
          <p:grpSpPr>
            <a:xfrm>
              <a:off x="928" y="824"/>
              <a:ext cx="1387" cy="1279"/>
              <a:chOff x="830" y="745"/>
              <a:chExt cx="994" cy="916"/>
            </a:xfrm>
          </p:grpSpPr>
          <p:pic>
            <p:nvPicPr>
              <p:cNvPr id="71" name="object 86"/>
              <p:cNvPicPr/>
              <p:nvPr/>
            </p:nvPicPr>
            <p:blipFill>
              <a:blip r:embed="rId2" cstate="print">
                <a:alphaModFix amt="20000"/>
              </a:blip>
              <a:stretch>
                <a:fillRect/>
              </a:stretch>
            </p:blipFill>
            <p:spPr>
              <a:xfrm>
                <a:off x="1186" y="1023"/>
                <a:ext cx="638" cy="638"/>
              </a:xfrm>
              <a:prstGeom prst="rect">
                <a:avLst/>
              </a:prstGeom>
            </p:spPr>
          </p:pic>
          <p:pic>
            <p:nvPicPr>
              <p:cNvPr id="73" name="object 88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30" y="745"/>
                <a:ext cx="734" cy="734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10DAC-6713-E4A3-7B7D-08CFF3447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>
            <a:extLst>
              <a:ext uri="{FF2B5EF4-FFF2-40B4-BE49-F238E27FC236}">
                <a16:creationId xmlns:a16="http://schemas.microsoft.com/office/drawing/2014/main" id="{99344629-2280-9027-B3FF-E04A2C80E91E}"/>
              </a:ext>
            </a:extLst>
          </p:cNvPr>
          <p:cNvGrpSpPr/>
          <p:nvPr/>
        </p:nvGrpSpPr>
        <p:grpSpPr>
          <a:xfrm>
            <a:off x="357768" y="317293"/>
            <a:ext cx="7401711" cy="492498"/>
            <a:chOff x="928" y="824"/>
            <a:chExt cx="12225" cy="1279"/>
          </a:xfrm>
        </p:grpSpPr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C660DD4B-6D47-F5F4-912A-C4D27B39E0BE}"/>
                </a:ext>
              </a:extLst>
            </p:cNvPr>
            <p:cNvSpPr/>
            <p:nvPr/>
          </p:nvSpPr>
          <p:spPr>
            <a:xfrm>
              <a:off x="2750" y="985"/>
              <a:ext cx="10403" cy="101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 defTabSz="914527">
                <a:defRPr/>
              </a:pPr>
              <a:r>
                <a:rPr lang="zh-CN" altLang="en-US" sz="2547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公司资质与证书（国家高新</a:t>
              </a:r>
              <a:r>
                <a:rPr lang="en-US" altLang="zh-CN" sz="2547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+</a:t>
              </a:r>
              <a:r>
                <a:rPr lang="zh-CN" altLang="en-US" sz="2547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专精特新）</a:t>
              </a:r>
            </a:p>
          </p:txBody>
        </p: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id="{034BB98B-65DD-CD39-F44A-945F4A949B9F}"/>
                </a:ext>
              </a:extLst>
            </p:cNvPr>
            <p:cNvGrpSpPr/>
            <p:nvPr/>
          </p:nvGrpSpPr>
          <p:grpSpPr>
            <a:xfrm>
              <a:off x="928" y="824"/>
              <a:ext cx="1387" cy="1279"/>
              <a:chOff x="830" y="745"/>
              <a:chExt cx="994" cy="916"/>
            </a:xfrm>
          </p:grpSpPr>
          <p:pic>
            <p:nvPicPr>
              <p:cNvPr id="76" name="object 86">
                <a:extLst>
                  <a:ext uri="{FF2B5EF4-FFF2-40B4-BE49-F238E27FC236}">
                    <a16:creationId xmlns:a16="http://schemas.microsoft.com/office/drawing/2014/main" id="{0338BA35-6814-458D-E03D-3E1741DA7877}"/>
                  </a:ext>
                </a:extLst>
              </p:cNvPr>
              <p:cNvPicPr/>
              <p:nvPr/>
            </p:nvPicPr>
            <p:blipFill>
              <a:blip r:embed="rId3" cstate="print">
                <a:alphaModFix amt="20000"/>
              </a:blip>
              <a:stretch>
                <a:fillRect/>
              </a:stretch>
            </p:blipFill>
            <p:spPr>
              <a:xfrm>
                <a:off x="1186" y="1023"/>
                <a:ext cx="638" cy="638"/>
              </a:xfrm>
              <a:prstGeom prst="rect">
                <a:avLst/>
              </a:prstGeom>
            </p:spPr>
          </p:pic>
          <p:pic>
            <p:nvPicPr>
              <p:cNvPr id="77" name="object 88">
                <a:extLst>
                  <a:ext uri="{FF2B5EF4-FFF2-40B4-BE49-F238E27FC236}">
                    <a16:creationId xmlns:a16="http://schemas.microsoft.com/office/drawing/2014/main" id="{038E460E-2D2F-672D-9B6E-A2FC837BBF81}"/>
                  </a:ext>
                </a:extLst>
              </p:cNvPr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830" y="745"/>
                <a:ext cx="483" cy="638"/>
              </a:xfrm>
              <a:prstGeom prst="rect">
                <a:avLst/>
              </a:prstGeom>
            </p:spPr>
          </p:pic>
        </p:grpSp>
      </p:grpSp>
      <p:pic>
        <p:nvPicPr>
          <p:cNvPr id="2" name="图片 1">
            <a:extLst>
              <a:ext uri="{FF2B5EF4-FFF2-40B4-BE49-F238E27FC236}">
                <a16:creationId xmlns:a16="http://schemas.microsoft.com/office/drawing/2014/main" id="{6875A040-65A3-FF93-266F-45708EC3C3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520" y="1488275"/>
            <a:ext cx="4580662" cy="3251733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8FFFBAB-CDD9-453E-B68F-C1CA1A9ACA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8754" y="1632984"/>
            <a:ext cx="4689874" cy="317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82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组合 69"/>
          <p:cNvGrpSpPr/>
          <p:nvPr/>
        </p:nvGrpSpPr>
        <p:grpSpPr>
          <a:xfrm>
            <a:off x="357768" y="317293"/>
            <a:ext cx="4707414" cy="492498"/>
            <a:chOff x="928" y="824"/>
            <a:chExt cx="12225" cy="1279"/>
          </a:xfrm>
        </p:grpSpPr>
        <p:sp>
          <p:nvSpPr>
            <p:cNvPr id="74" name="矩形 73"/>
            <p:cNvSpPr/>
            <p:nvPr/>
          </p:nvSpPr>
          <p:spPr>
            <a:xfrm>
              <a:off x="2750" y="985"/>
              <a:ext cx="10403" cy="1018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just" defTabSz="914527">
                <a:defRPr/>
              </a:pPr>
              <a:r>
                <a:rPr lang="zh-CN" altLang="en-US" sz="2547" b="1" dirty="0">
                  <a:solidFill>
                    <a:schemeClr val="tx2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已合作典型客户</a:t>
              </a:r>
            </a:p>
          </p:txBody>
        </p:sp>
        <p:grpSp>
          <p:nvGrpSpPr>
            <p:cNvPr id="75" name="组合 74"/>
            <p:cNvGrpSpPr/>
            <p:nvPr/>
          </p:nvGrpSpPr>
          <p:grpSpPr>
            <a:xfrm>
              <a:off x="928" y="824"/>
              <a:ext cx="1387" cy="1279"/>
              <a:chOff x="830" y="745"/>
              <a:chExt cx="994" cy="916"/>
            </a:xfrm>
          </p:grpSpPr>
          <p:pic>
            <p:nvPicPr>
              <p:cNvPr id="76" name="object 86"/>
              <p:cNvPicPr/>
              <p:nvPr/>
            </p:nvPicPr>
            <p:blipFill>
              <a:blip r:embed="rId2" cstate="print">
                <a:alphaModFix amt="20000"/>
              </a:blip>
              <a:stretch>
                <a:fillRect/>
              </a:stretch>
            </p:blipFill>
            <p:spPr>
              <a:xfrm>
                <a:off x="1186" y="1023"/>
                <a:ext cx="638" cy="638"/>
              </a:xfrm>
              <a:prstGeom prst="rect">
                <a:avLst/>
              </a:prstGeom>
            </p:spPr>
          </p:pic>
          <p:pic>
            <p:nvPicPr>
              <p:cNvPr id="77" name="object 88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830" y="745"/>
                <a:ext cx="734" cy="734"/>
              </a:xfrm>
              <a:prstGeom prst="rect">
                <a:avLst/>
              </a:prstGeom>
            </p:spPr>
          </p:pic>
        </p:grpSp>
      </p:grpSp>
      <p:pic>
        <p:nvPicPr>
          <p:cNvPr id="5" name="Picture 12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2" t="26819" r="10031" b="28753"/>
          <a:stretch>
            <a:fillRect/>
          </a:stretch>
        </p:blipFill>
        <p:spPr bwMode="auto">
          <a:xfrm>
            <a:off x="6534267" y="4291606"/>
            <a:ext cx="1802102" cy="696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4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4" t="10884" r="3379" b="22840"/>
          <a:stretch>
            <a:fillRect/>
          </a:stretch>
        </p:blipFill>
        <p:spPr bwMode="auto">
          <a:xfrm>
            <a:off x="1290394" y="1429757"/>
            <a:ext cx="1902473" cy="734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6"/>
          <a:srcRect t="15093" b="13111"/>
          <a:stretch>
            <a:fillRect/>
          </a:stretch>
        </p:blipFill>
        <p:spPr>
          <a:xfrm>
            <a:off x="3949713" y="2381739"/>
            <a:ext cx="1925898" cy="735557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991" y="4235116"/>
            <a:ext cx="1709687" cy="786125"/>
          </a:xfrm>
          <a:prstGeom prst="rect">
            <a:avLst/>
          </a:prstGeom>
        </p:spPr>
      </p:pic>
      <p:pic>
        <p:nvPicPr>
          <p:cNvPr id="13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870" y="1552320"/>
            <a:ext cx="3241653" cy="442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s://img1.baidu.com/it/u=4058935225,3580369732&amp;fm=26&amp;fmt=auto&amp;gp=0.jpg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17" y="2303890"/>
            <a:ext cx="2052079" cy="735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96640" y="1302011"/>
            <a:ext cx="2259444" cy="1216277"/>
          </a:xfrm>
          <a:prstGeom prst="rect">
            <a:avLst/>
          </a:prstGeom>
        </p:spPr>
      </p:pic>
      <p:pic>
        <p:nvPicPr>
          <p:cNvPr id="18" name="Picture 2" descr="泰康在线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0394" y="3442979"/>
            <a:ext cx="2121399" cy="494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15374" y="2301965"/>
            <a:ext cx="1719992" cy="531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50493" y="2391565"/>
            <a:ext cx="2259444" cy="531634"/>
          </a:xfrm>
          <a:prstGeom prst="rect">
            <a:avLst/>
          </a:prstGeom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2958" y="3354032"/>
            <a:ext cx="1617271" cy="576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901839" y="4281980"/>
            <a:ext cx="1802102" cy="598705"/>
          </a:xfrm>
          <a:prstGeom prst="rect">
            <a:avLst/>
          </a:prstGeom>
        </p:spPr>
      </p:pic>
      <p:pic>
        <p:nvPicPr>
          <p:cNvPr id="24" name="Picture 6" descr="Logo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2426" y="3239864"/>
            <a:ext cx="1426904" cy="690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5374" y="1325355"/>
            <a:ext cx="1872980" cy="690432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2958" y="4448808"/>
            <a:ext cx="1617271" cy="57435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713" y="3230238"/>
            <a:ext cx="1826211" cy="735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E619-E85E-8FF9-DA4E-50BEBAED5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<a:extLst>
              <a:ext uri="{FF2B5EF4-FFF2-40B4-BE49-F238E27FC236}">
                <a16:creationId xmlns:a16="http://schemas.microsoft.com/office/drawing/2014/main" id="{AF022697-140F-0B6A-AD0E-41151B2E86A4}"/>
              </a:ext>
            </a:extLst>
          </p:cNvPr>
          <p:cNvSpPr txBox="1"/>
          <p:nvPr/>
        </p:nvSpPr>
        <p:spPr>
          <a:xfrm>
            <a:off x="394825" y="310417"/>
            <a:ext cx="524147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合规网约车风险评级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CE7EFA8-A84F-D3E7-7109-D468C7D83580}"/>
              </a:ext>
            </a:extLst>
          </p:cNvPr>
          <p:cNvSpPr txBox="1"/>
          <p:nvPr/>
        </p:nvSpPr>
        <p:spPr>
          <a:xfrm>
            <a:off x="1101880" y="1212129"/>
            <a:ext cx="906884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风险因子：</a:t>
            </a:r>
            <a:endParaRPr lang="en-US" altLang="zh-CN" sz="2000" b="1" dirty="0"/>
          </a:p>
          <a:p>
            <a:r>
              <a:rPr lang="en-US" altLang="zh-CN" sz="2000" dirty="0"/>
              <a:t>       </a:t>
            </a:r>
            <a:r>
              <a:rPr lang="zh-CN" altLang="en-US" sz="2000" dirty="0"/>
              <a:t>营运里程评分</a:t>
            </a:r>
            <a:endParaRPr lang="en-US" altLang="zh-CN" sz="2000" dirty="0"/>
          </a:p>
          <a:p>
            <a:r>
              <a:rPr lang="en-US" altLang="zh-CN" sz="2000" dirty="0"/>
              <a:t>       </a:t>
            </a:r>
            <a:r>
              <a:rPr lang="zh-CN" altLang="en-US" sz="2000" dirty="0"/>
              <a:t>营运频次评分</a:t>
            </a:r>
            <a:endParaRPr lang="en-US" altLang="zh-CN" sz="2000" dirty="0"/>
          </a:p>
          <a:p>
            <a:r>
              <a:rPr lang="en-US" altLang="zh-CN" sz="2000" dirty="0"/>
              <a:t>       </a:t>
            </a:r>
            <a:r>
              <a:rPr lang="zh-CN" altLang="en-US" sz="2000" dirty="0"/>
              <a:t>营运时长评分</a:t>
            </a:r>
            <a:endParaRPr lang="en-US" altLang="zh-CN" sz="2000" dirty="0"/>
          </a:p>
          <a:p>
            <a:r>
              <a:rPr lang="en-US" altLang="zh-CN" sz="2000" dirty="0"/>
              <a:t>       </a:t>
            </a:r>
            <a:r>
              <a:rPr lang="zh-CN" altLang="en-US" sz="2000" dirty="0"/>
              <a:t>夜间营运里程评分</a:t>
            </a:r>
            <a:endParaRPr lang="en-US" altLang="zh-CN" sz="2000" dirty="0"/>
          </a:p>
          <a:p>
            <a:r>
              <a:rPr lang="en-US" altLang="zh-CN" sz="2000" dirty="0"/>
              <a:t>       </a:t>
            </a:r>
            <a:r>
              <a:rPr lang="zh-CN" altLang="en-US" sz="2000" dirty="0"/>
              <a:t>客户评价</a:t>
            </a:r>
            <a:endParaRPr lang="en-US" altLang="zh-CN" sz="2000" dirty="0"/>
          </a:p>
          <a:p>
            <a:r>
              <a:rPr lang="en-US" altLang="zh-CN" sz="2000" dirty="0"/>
              <a:t>       </a:t>
            </a:r>
            <a:r>
              <a:rPr lang="zh-CN" altLang="en-US" sz="2000" dirty="0"/>
              <a:t>能源类型</a:t>
            </a:r>
            <a:endParaRPr lang="en-US" altLang="zh-CN" sz="2000" dirty="0"/>
          </a:p>
          <a:p>
            <a:r>
              <a:rPr lang="en-US" altLang="zh-CN" sz="2000" dirty="0"/>
              <a:t>       </a:t>
            </a:r>
            <a:r>
              <a:rPr lang="zh-CN" altLang="en-US" sz="2000" dirty="0"/>
              <a:t>总行驶里程、是否重大故障，电池衰减风险等</a:t>
            </a:r>
            <a:endParaRPr lang="en-US" altLang="zh-CN" sz="2000" dirty="0"/>
          </a:p>
          <a:p>
            <a:r>
              <a:rPr lang="en-US" altLang="zh-CN" sz="2000" dirty="0"/>
              <a:t>       </a:t>
            </a:r>
            <a:r>
              <a:rPr lang="zh-CN" altLang="en-US" sz="2000" dirty="0"/>
              <a:t>静态车型因子：加速度，传感器数量</a:t>
            </a:r>
            <a:r>
              <a:rPr lang="zh-CN" altLang="en-US" sz="2000" dirty="0" smtClean="0"/>
              <a:t>等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                </a:t>
            </a:r>
          </a:p>
          <a:p>
            <a:r>
              <a:rPr lang="en-US" altLang="zh-CN" sz="2000" dirty="0"/>
              <a:t>       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D5298D-1EC4-001E-EA40-85940FE5D997}"/>
              </a:ext>
            </a:extLst>
          </p:cNvPr>
          <p:cNvSpPr txBox="1"/>
          <p:nvPr/>
        </p:nvSpPr>
        <p:spPr>
          <a:xfrm>
            <a:off x="1101880" y="4360011"/>
            <a:ext cx="9068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建模方法：</a:t>
            </a:r>
            <a:endParaRPr lang="en-US" altLang="zh-CN" sz="2000" b="1" dirty="0"/>
          </a:p>
          <a:p>
            <a:endParaRPr lang="en-US" altLang="zh-CN" sz="2000" dirty="0"/>
          </a:p>
          <a:p>
            <a:r>
              <a:rPr lang="en-US" altLang="zh-CN" sz="2000" dirty="0"/>
              <a:t>       </a:t>
            </a:r>
            <a:r>
              <a:rPr lang="zh-CN" altLang="en-US" sz="2000" dirty="0"/>
              <a:t>出险频次模型，含燃油及新能源</a:t>
            </a:r>
          </a:p>
        </p:txBody>
      </p:sp>
    </p:spTree>
    <p:extLst>
      <p:ext uri="{BB962C8B-B14F-4D97-AF65-F5344CB8AC3E}">
        <p14:creationId xmlns:p14="http://schemas.microsoft.com/office/powerpoint/2010/main" val="4074942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E5D9A8-E6BA-7209-C01A-2B160598A8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<a:extLst>
              <a:ext uri="{FF2B5EF4-FFF2-40B4-BE49-F238E27FC236}">
                <a16:creationId xmlns:a16="http://schemas.microsoft.com/office/drawing/2014/main" id="{56B4A263-AA27-1DB7-1E8A-156049685944}"/>
              </a:ext>
            </a:extLst>
          </p:cNvPr>
          <p:cNvSpPr txBox="1"/>
          <p:nvPr/>
        </p:nvSpPr>
        <p:spPr>
          <a:xfrm>
            <a:off x="394825" y="310417"/>
            <a:ext cx="524147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十等分模型结果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FFFF24F-A44C-3A24-02C5-C7A3237FDE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837482"/>
              </p:ext>
            </p:extLst>
          </p:nvPr>
        </p:nvGraphicFramePr>
        <p:xfrm>
          <a:off x="2204581" y="1183129"/>
          <a:ext cx="6479721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59907">
                  <a:extLst>
                    <a:ext uri="{9D8B030D-6E8A-4147-A177-3AD203B41FA5}">
                      <a16:colId xmlns:a16="http://schemas.microsoft.com/office/drawing/2014/main" val="3855689533"/>
                    </a:ext>
                  </a:extLst>
                </a:gridCol>
                <a:gridCol w="2159907">
                  <a:extLst>
                    <a:ext uri="{9D8B030D-6E8A-4147-A177-3AD203B41FA5}">
                      <a16:colId xmlns:a16="http://schemas.microsoft.com/office/drawing/2014/main" val="2705977195"/>
                    </a:ext>
                  </a:extLst>
                </a:gridCol>
                <a:gridCol w="2159907">
                  <a:extLst>
                    <a:ext uri="{9D8B030D-6E8A-4147-A177-3AD203B41FA5}">
                      <a16:colId xmlns:a16="http://schemas.microsoft.com/office/drawing/2014/main" val="42662902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评分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出险频次相对值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标费赔付率相对值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71527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0.38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64%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748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0.56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80%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4478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0.55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80%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2066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64%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7490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0.57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91%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9197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87%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97253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88%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882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0.67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106%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39577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9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0.76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106%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17828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0.82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324078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E8F29942-0BC5-A1B3-06D6-610648C23A4C}"/>
              </a:ext>
            </a:extLst>
          </p:cNvPr>
          <p:cNvSpPr txBox="1"/>
          <p:nvPr/>
        </p:nvSpPr>
        <p:spPr>
          <a:xfrm>
            <a:off x="1205282" y="5824603"/>
            <a:ext cx="9244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出险频次</a:t>
            </a:r>
            <a:r>
              <a:rPr lang="en-US" altLang="zh-CN" dirty="0"/>
              <a:t>Lift= 2.17</a:t>
            </a:r>
            <a:r>
              <a:rPr lang="zh-CN" altLang="en-US" dirty="0"/>
              <a:t>，赔付率</a:t>
            </a:r>
            <a:r>
              <a:rPr lang="en-US" altLang="zh-CN" dirty="0"/>
              <a:t>Lift=1.57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38CFF47-2648-5BE0-9AB5-C33A4170E52D}"/>
              </a:ext>
            </a:extLst>
          </p:cNvPr>
          <p:cNvSpPr txBox="1"/>
          <p:nvPr/>
        </p:nvSpPr>
        <p:spPr>
          <a:xfrm>
            <a:off x="2354893" y="4058433"/>
            <a:ext cx="6663847" cy="13528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E35CB5-13BC-A428-9C30-483414C61E17}"/>
              </a:ext>
            </a:extLst>
          </p:cNvPr>
          <p:cNvSpPr txBox="1"/>
          <p:nvPr/>
        </p:nvSpPr>
        <p:spPr>
          <a:xfrm>
            <a:off x="9409830" y="2300535"/>
            <a:ext cx="24300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、在保司使用了北理里程数据后，仍然能找出</a:t>
            </a:r>
            <a:r>
              <a:rPr lang="en-US" altLang="zh-CN" dirty="0"/>
              <a:t>30%</a:t>
            </a:r>
            <a:r>
              <a:rPr lang="zh-CN" altLang="en-US" dirty="0"/>
              <a:t>的赔付率超</a:t>
            </a:r>
            <a:r>
              <a:rPr lang="en-US" altLang="zh-CN" dirty="0"/>
              <a:t>100%</a:t>
            </a:r>
            <a:r>
              <a:rPr lang="zh-CN" altLang="en-US" dirty="0"/>
              <a:t>的业务。</a:t>
            </a:r>
            <a:endParaRPr lang="en-US" altLang="zh-CN" dirty="0"/>
          </a:p>
          <a:p>
            <a:r>
              <a:rPr lang="en-US" altLang="zh-CN" dirty="0"/>
              <a:t>2</a:t>
            </a:r>
            <a:r>
              <a:rPr lang="zh-CN" altLang="en-US" dirty="0"/>
              <a:t>、随着北理数据的效果变差，这个数据变得越来越重要；</a:t>
            </a:r>
            <a:endParaRPr lang="en-US" altLang="zh-CN" dirty="0"/>
          </a:p>
          <a:p>
            <a:r>
              <a:rPr lang="en-US" altLang="zh-CN" dirty="0"/>
              <a:t>3</a:t>
            </a:r>
            <a:r>
              <a:rPr lang="zh-CN" altLang="en-US" dirty="0"/>
              <a:t>、与保司模型融合后，极差为</a:t>
            </a:r>
            <a:r>
              <a:rPr lang="en-US" altLang="zh-CN" dirty="0"/>
              <a:t>2.79</a:t>
            </a:r>
            <a:r>
              <a:rPr lang="zh-CN" altLang="en-US" dirty="0"/>
              <a:t>，提升度为</a:t>
            </a:r>
            <a:r>
              <a:rPr lang="en-US" altLang="zh-CN" dirty="0"/>
              <a:t>17%</a:t>
            </a:r>
            <a:r>
              <a:rPr lang="zh-CN" altLang="en-US" dirty="0"/>
              <a:t>，效果非常显著。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13419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23C1D-F981-649C-D9D0-018C17AF0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<a:extLst>
              <a:ext uri="{FF2B5EF4-FFF2-40B4-BE49-F238E27FC236}">
                <a16:creationId xmlns:a16="http://schemas.microsoft.com/office/drawing/2014/main" id="{81F886C2-85CC-E6FE-179E-9CFE17984F1E}"/>
              </a:ext>
            </a:extLst>
          </p:cNvPr>
          <p:cNvSpPr txBox="1"/>
          <p:nvPr/>
        </p:nvSpPr>
        <p:spPr>
          <a:xfrm>
            <a:off x="394825" y="310417"/>
            <a:ext cx="582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验证结果一（个人名下网约车）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B28E433-1104-7D73-9426-1D917C8A4C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906" y="1322315"/>
            <a:ext cx="9691676" cy="4003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700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D593-E96D-120F-9F8D-21849A1B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<a:extLst>
              <a:ext uri="{FF2B5EF4-FFF2-40B4-BE49-F238E27FC236}">
                <a16:creationId xmlns:a16="http://schemas.microsoft.com/office/drawing/2014/main" id="{DCC489ED-20E2-8DF3-09B0-1AC3338F7E00}"/>
              </a:ext>
            </a:extLst>
          </p:cNvPr>
          <p:cNvSpPr txBox="1"/>
          <p:nvPr/>
        </p:nvSpPr>
        <p:spPr>
          <a:xfrm>
            <a:off x="432403" y="297891"/>
            <a:ext cx="582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验证结果二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7A58AAC-D4B4-A8A2-124C-D454F5F236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761042"/>
              </p:ext>
            </p:extLst>
          </p:nvPr>
        </p:nvGraphicFramePr>
        <p:xfrm>
          <a:off x="2858718" y="1396071"/>
          <a:ext cx="60960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02835594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38478602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78270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评级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满期保费占比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满期赔付率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3762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2.8%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58%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4401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15.3%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74%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01374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32.3%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76%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1031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33.3%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85%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483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5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10.5%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101%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9864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6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4.8%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120%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4212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7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0.8%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136%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8624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0.2%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153%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1511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100%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84%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771314"/>
                  </a:ext>
                </a:extLst>
              </a:tr>
            </a:tbl>
          </a:graphicData>
        </a:graphic>
      </p:graphicFrame>
      <p:sp>
        <p:nvSpPr>
          <p:cNvPr id="4" name="文本框 3">
            <a:extLst>
              <a:ext uri="{FF2B5EF4-FFF2-40B4-BE49-F238E27FC236}">
                <a16:creationId xmlns:a16="http://schemas.microsoft.com/office/drawing/2014/main" id="{25A5B8F6-3310-EC50-658A-F06BBFAD442E}"/>
              </a:ext>
            </a:extLst>
          </p:cNvPr>
          <p:cNvSpPr txBox="1"/>
          <p:nvPr/>
        </p:nvSpPr>
        <p:spPr>
          <a:xfrm>
            <a:off x="1515649" y="5761974"/>
            <a:ext cx="7979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备注</a:t>
            </a:r>
            <a:r>
              <a:rPr lang="zh-CN" altLang="en-US" sz="1400" dirty="0" smtClean="0"/>
              <a:t>：</a:t>
            </a:r>
            <a:r>
              <a:rPr lang="en-US" altLang="zh-CN" sz="1400" dirty="0" smtClean="0"/>
              <a:t>3</a:t>
            </a:r>
            <a:r>
              <a:rPr lang="zh-CN" altLang="en-US" sz="1400" dirty="0" smtClean="0"/>
              <a:t>亿多保费</a:t>
            </a:r>
            <a:r>
              <a:rPr lang="zh-CN" altLang="en-US" sz="1400" dirty="0"/>
              <a:t>，全国范围</a:t>
            </a:r>
          </a:p>
        </p:txBody>
      </p:sp>
    </p:spTree>
    <p:extLst>
      <p:ext uri="{BB962C8B-B14F-4D97-AF65-F5344CB8AC3E}">
        <p14:creationId xmlns:p14="http://schemas.microsoft.com/office/powerpoint/2010/main" val="3669404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D593-E96D-120F-9F8D-21849A1B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<a:extLst>
              <a:ext uri="{FF2B5EF4-FFF2-40B4-BE49-F238E27FC236}">
                <a16:creationId xmlns:a16="http://schemas.microsoft.com/office/drawing/2014/main" id="{DCC489ED-20E2-8DF3-09B0-1AC3338F7E00}"/>
              </a:ext>
            </a:extLst>
          </p:cNvPr>
          <p:cNvSpPr txBox="1"/>
          <p:nvPr/>
        </p:nvSpPr>
        <p:spPr>
          <a:xfrm>
            <a:off x="432403" y="297891"/>
            <a:ext cx="582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验证</a:t>
            </a:r>
            <a:r>
              <a:rPr lang="zh-CN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结果三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A5B8F6-3310-EC50-658A-F06BBFAD442E}"/>
              </a:ext>
            </a:extLst>
          </p:cNvPr>
          <p:cNvSpPr txBox="1"/>
          <p:nvPr/>
        </p:nvSpPr>
        <p:spPr>
          <a:xfrm>
            <a:off x="1515649" y="5761974"/>
            <a:ext cx="7979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备注</a:t>
            </a:r>
            <a:r>
              <a:rPr lang="zh-CN" altLang="en-US" sz="1400" dirty="0" smtClean="0"/>
              <a:t>：</a:t>
            </a:r>
            <a:r>
              <a:rPr lang="en-US" altLang="zh-CN" sz="1400" dirty="0" smtClean="0"/>
              <a:t>2</a:t>
            </a:r>
            <a:r>
              <a:rPr lang="zh-CN" altLang="en-US" sz="1400" dirty="0" smtClean="0"/>
              <a:t>万台车，</a:t>
            </a:r>
            <a:r>
              <a:rPr lang="zh-CN" altLang="en-US" sz="1400" dirty="0"/>
              <a:t>全国范围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89" y="989740"/>
            <a:ext cx="9386486" cy="414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091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D593-E96D-120F-9F8D-21849A1B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<a:extLst>
              <a:ext uri="{FF2B5EF4-FFF2-40B4-BE49-F238E27FC236}">
                <a16:creationId xmlns:a16="http://schemas.microsoft.com/office/drawing/2014/main" id="{DCC489ED-20E2-8DF3-09B0-1AC3338F7E00}"/>
              </a:ext>
            </a:extLst>
          </p:cNvPr>
          <p:cNvSpPr txBox="1"/>
          <p:nvPr/>
        </p:nvSpPr>
        <p:spPr>
          <a:xfrm>
            <a:off x="432403" y="297891"/>
            <a:ext cx="582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验证</a:t>
            </a:r>
            <a:r>
              <a:rPr lang="zh-CN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结果三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A5B8F6-3310-EC50-658A-F06BBFAD442E}"/>
              </a:ext>
            </a:extLst>
          </p:cNvPr>
          <p:cNvSpPr txBox="1"/>
          <p:nvPr/>
        </p:nvSpPr>
        <p:spPr>
          <a:xfrm>
            <a:off x="1515649" y="5761974"/>
            <a:ext cx="7979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备注</a:t>
            </a:r>
            <a:r>
              <a:rPr lang="zh-CN" altLang="en-US" sz="1400" dirty="0" smtClean="0"/>
              <a:t>：</a:t>
            </a:r>
            <a:r>
              <a:rPr lang="en-US" altLang="zh-CN" sz="1400" dirty="0" smtClean="0"/>
              <a:t>2</a:t>
            </a:r>
            <a:r>
              <a:rPr lang="zh-CN" altLang="en-US" sz="1400" dirty="0" smtClean="0"/>
              <a:t>万台车，</a:t>
            </a:r>
            <a:r>
              <a:rPr lang="zh-CN" altLang="en-US" sz="1400" dirty="0"/>
              <a:t>全国范围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2999" y="934399"/>
            <a:ext cx="6971428" cy="4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9582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D593-E96D-120F-9F8D-21849A1B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<a:extLst>
              <a:ext uri="{FF2B5EF4-FFF2-40B4-BE49-F238E27FC236}">
                <a16:creationId xmlns:a16="http://schemas.microsoft.com/office/drawing/2014/main" id="{DCC489ED-20E2-8DF3-09B0-1AC3338F7E00}"/>
              </a:ext>
            </a:extLst>
          </p:cNvPr>
          <p:cNvSpPr txBox="1"/>
          <p:nvPr/>
        </p:nvSpPr>
        <p:spPr>
          <a:xfrm>
            <a:off x="432403" y="297891"/>
            <a:ext cx="582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验证</a:t>
            </a:r>
            <a:r>
              <a:rPr lang="zh-CN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结果三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A5B8F6-3310-EC50-658A-F06BBFAD442E}"/>
              </a:ext>
            </a:extLst>
          </p:cNvPr>
          <p:cNvSpPr txBox="1"/>
          <p:nvPr/>
        </p:nvSpPr>
        <p:spPr>
          <a:xfrm>
            <a:off x="1515649" y="5761974"/>
            <a:ext cx="7979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备注</a:t>
            </a:r>
            <a:r>
              <a:rPr lang="zh-CN" altLang="en-US" sz="1400" dirty="0" smtClean="0"/>
              <a:t>：</a:t>
            </a:r>
            <a:r>
              <a:rPr lang="en-US" altLang="zh-CN" sz="1400" dirty="0" smtClean="0"/>
              <a:t>2</a:t>
            </a:r>
            <a:r>
              <a:rPr lang="zh-CN" altLang="en-US" sz="1400" dirty="0" smtClean="0"/>
              <a:t>万台车，</a:t>
            </a:r>
            <a:r>
              <a:rPr lang="zh-CN" altLang="en-US" sz="1400" dirty="0"/>
              <a:t>全国范围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444" y="911530"/>
            <a:ext cx="9090326" cy="476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666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D593-E96D-120F-9F8D-21849A1B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<a:extLst>
              <a:ext uri="{FF2B5EF4-FFF2-40B4-BE49-F238E27FC236}">
                <a16:creationId xmlns:a16="http://schemas.microsoft.com/office/drawing/2014/main" id="{DCC489ED-20E2-8DF3-09B0-1AC3338F7E00}"/>
              </a:ext>
            </a:extLst>
          </p:cNvPr>
          <p:cNvSpPr txBox="1"/>
          <p:nvPr/>
        </p:nvSpPr>
        <p:spPr>
          <a:xfrm>
            <a:off x="432403" y="297891"/>
            <a:ext cx="582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验证</a:t>
            </a:r>
            <a:r>
              <a:rPr lang="zh-CN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结果四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A5B8F6-3310-EC50-658A-F06BBFAD442E}"/>
              </a:ext>
            </a:extLst>
          </p:cNvPr>
          <p:cNvSpPr txBox="1"/>
          <p:nvPr/>
        </p:nvSpPr>
        <p:spPr>
          <a:xfrm>
            <a:off x="1515649" y="5761974"/>
            <a:ext cx="7979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备注</a:t>
            </a:r>
            <a:r>
              <a:rPr lang="zh-CN" altLang="en-US" sz="1400" dirty="0" smtClean="0"/>
              <a:t>：</a:t>
            </a:r>
            <a:r>
              <a:rPr lang="en-US" altLang="zh-CN" sz="1400" dirty="0" smtClean="0"/>
              <a:t>8000</a:t>
            </a:r>
            <a:r>
              <a:rPr lang="zh-CN" altLang="en-US" sz="1400" dirty="0" smtClean="0"/>
              <a:t>台</a:t>
            </a:r>
            <a:r>
              <a:rPr lang="zh-CN" altLang="en-US" sz="1400" dirty="0" smtClean="0"/>
              <a:t>车，</a:t>
            </a:r>
            <a:r>
              <a:rPr lang="zh-CN" altLang="en-US" sz="1400" dirty="0"/>
              <a:t>全国范围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796" y="1366091"/>
            <a:ext cx="9718999" cy="2802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00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D593-E96D-120F-9F8D-21849A1B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<a:extLst>
              <a:ext uri="{FF2B5EF4-FFF2-40B4-BE49-F238E27FC236}">
                <a16:creationId xmlns:a16="http://schemas.microsoft.com/office/drawing/2014/main" id="{DCC489ED-20E2-8DF3-09B0-1AC3338F7E00}"/>
              </a:ext>
            </a:extLst>
          </p:cNvPr>
          <p:cNvSpPr txBox="1"/>
          <p:nvPr/>
        </p:nvSpPr>
        <p:spPr>
          <a:xfrm>
            <a:off x="432403" y="297891"/>
            <a:ext cx="582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验证</a:t>
            </a:r>
            <a:r>
              <a:rPr lang="zh-CN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结果四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A5B8F6-3310-EC50-658A-F06BBFAD442E}"/>
              </a:ext>
            </a:extLst>
          </p:cNvPr>
          <p:cNvSpPr txBox="1"/>
          <p:nvPr/>
        </p:nvSpPr>
        <p:spPr>
          <a:xfrm>
            <a:off x="1515649" y="5761974"/>
            <a:ext cx="7979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备注</a:t>
            </a:r>
            <a:r>
              <a:rPr lang="zh-CN" altLang="en-US" sz="1400" dirty="0" smtClean="0"/>
              <a:t>：</a:t>
            </a:r>
            <a:r>
              <a:rPr lang="en-US" altLang="zh-CN" sz="1400" dirty="0" smtClean="0"/>
              <a:t>8000</a:t>
            </a:r>
            <a:r>
              <a:rPr lang="zh-CN" altLang="en-US" sz="1400" dirty="0" smtClean="0"/>
              <a:t>台</a:t>
            </a:r>
            <a:r>
              <a:rPr lang="zh-CN" altLang="en-US" sz="1400" dirty="0" smtClean="0"/>
              <a:t>车，</a:t>
            </a:r>
            <a:r>
              <a:rPr lang="zh-CN" altLang="en-US" sz="1400" dirty="0"/>
              <a:t>全国范围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96" y="821111"/>
            <a:ext cx="7999616" cy="230657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97" y="3260044"/>
            <a:ext cx="7999616" cy="2289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536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D593-E96D-120F-9F8D-21849A1BD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<a:extLst>
              <a:ext uri="{FF2B5EF4-FFF2-40B4-BE49-F238E27FC236}">
                <a16:creationId xmlns:a16="http://schemas.microsoft.com/office/drawing/2014/main" id="{DCC489ED-20E2-8DF3-09B0-1AC3338F7E00}"/>
              </a:ext>
            </a:extLst>
          </p:cNvPr>
          <p:cNvSpPr txBox="1"/>
          <p:nvPr/>
        </p:nvSpPr>
        <p:spPr>
          <a:xfrm>
            <a:off x="432403" y="297891"/>
            <a:ext cx="582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验证</a:t>
            </a:r>
            <a:r>
              <a:rPr lang="zh-CN" altLang="en-US" sz="28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结果四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A5B8F6-3310-EC50-658A-F06BBFAD442E}"/>
              </a:ext>
            </a:extLst>
          </p:cNvPr>
          <p:cNvSpPr txBox="1"/>
          <p:nvPr/>
        </p:nvSpPr>
        <p:spPr>
          <a:xfrm>
            <a:off x="1515649" y="5761974"/>
            <a:ext cx="7979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/>
              <a:t>备注</a:t>
            </a:r>
            <a:r>
              <a:rPr lang="zh-CN" altLang="en-US" sz="1400" dirty="0" smtClean="0"/>
              <a:t>：</a:t>
            </a:r>
            <a:r>
              <a:rPr lang="en-US" altLang="zh-CN" sz="1400" dirty="0" smtClean="0"/>
              <a:t>8000</a:t>
            </a:r>
            <a:r>
              <a:rPr lang="zh-CN" altLang="en-US" sz="1400" dirty="0" smtClean="0"/>
              <a:t>台</a:t>
            </a:r>
            <a:r>
              <a:rPr lang="zh-CN" altLang="en-US" sz="1400" dirty="0" smtClean="0"/>
              <a:t>车，</a:t>
            </a:r>
            <a:r>
              <a:rPr lang="zh-CN" altLang="en-US" sz="1400" dirty="0"/>
              <a:t>全国范围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649" y="996304"/>
            <a:ext cx="8819048" cy="22952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5649" y="3379139"/>
            <a:ext cx="8819048" cy="22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1302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1E3C6B-6992-CA20-9152-96B3619CA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 descr="e7d195523061f1c09e9d68d7cf438b91ef959ecb14fc25d26BBA7F7DBC18E55DFF4014AF651F0BF2569D4B6C1DA7F1A4683A481403BD872FC687266AD13265C1DE7C373772FD8728ABDD69ADD03BFF5BE2862BC891DBB79EC0B81FB75486405D5064442904236646CF49102BEE5E1B895458B641CA0D6C7889FDD78D23C2B1BC47745F4B67C4FF437063ECD1606ECED6">
            <a:extLst>
              <a:ext uri="{FF2B5EF4-FFF2-40B4-BE49-F238E27FC236}">
                <a16:creationId xmlns:a16="http://schemas.microsoft.com/office/drawing/2014/main" id="{B4E1FF98-AE5A-4701-6C8A-96D9E3DF30BB}"/>
              </a:ext>
            </a:extLst>
          </p:cNvPr>
          <p:cNvSpPr txBox="1"/>
          <p:nvPr/>
        </p:nvSpPr>
        <p:spPr>
          <a:xfrm>
            <a:off x="432403" y="297891"/>
            <a:ext cx="58206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  <a:sym typeface="+mn-lt"/>
              </a:rPr>
              <a:t>建议网约车合作模式</a:t>
            </a:r>
            <a:endParaRPr lang="zh-CN" altLang="zh-CN" sz="28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  <a:sym typeface="+mn-lt"/>
            </a:endParaRPr>
          </a:p>
        </p:txBody>
      </p:sp>
      <p:graphicFrame>
        <p:nvGraphicFramePr>
          <p:cNvPr id="8" name="图示 7">
            <a:extLst>
              <a:ext uri="{FF2B5EF4-FFF2-40B4-BE49-F238E27FC236}">
                <a16:creationId xmlns:a16="http://schemas.microsoft.com/office/drawing/2014/main" id="{3ABB4A1B-BEBF-F3AA-7076-09C36FE3BF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32813733"/>
              </p:ext>
            </p:extLst>
          </p:nvPr>
        </p:nvGraphicFramePr>
        <p:xfrm>
          <a:off x="2430049" y="1731433"/>
          <a:ext cx="5976307" cy="33951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590FE674-11A7-D648-E918-024E77BDB836}"/>
              </a:ext>
            </a:extLst>
          </p:cNvPr>
          <p:cNvSpPr txBox="1"/>
          <p:nvPr/>
        </p:nvSpPr>
        <p:spPr>
          <a:xfrm>
            <a:off x="6475957" y="1850720"/>
            <a:ext cx="29937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提供承保与理赔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提供适当的佣金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8D5D72C-0C4B-E367-B398-67630F399A47}"/>
              </a:ext>
            </a:extLst>
          </p:cNvPr>
          <p:cNvSpPr txBox="1"/>
          <p:nvPr/>
        </p:nvSpPr>
        <p:spPr>
          <a:xfrm>
            <a:off x="8057877" y="4324403"/>
            <a:ext cx="29937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业务发展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挑选优质业务报价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协助理赔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费用结算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0A3C772-2D45-7AFB-6E48-922A96FB2D6C}"/>
              </a:ext>
            </a:extLst>
          </p:cNvPr>
          <p:cNvSpPr txBox="1"/>
          <p:nvPr/>
        </p:nvSpPr>
        <p:spPr>
          <a:xfrm>
            <a:off x="933188" y="4477672"/>
            <a:ext cx="299372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风控</a:t>
            </a:r>
            <a:r>
              <a:rPr lang="en-US" altLang="zh-CN" sz="1400" dirty="0"/>
              <a:t>/</a:t>
            </a:r>
            <a:r>
              <a:rPr lang="zh-CN" altLang="en-US" sz="1400" dirty="0"/>
              <a:t>定价系统研发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/>
              <a:t>效果回溯及承保建议</a:t>
            </a:r>
            <a:endParaRPr lang="en-US" altLang="zh-CN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A126208-2922-3DC0-D5E3-60657DA1CD13}"/>
              </a:ext>
            </a:extLst>
          </p:cNvPr>
          <p:cNvSpPr txBox="1"/>
          <p:nvPr/>
        </p:nvSpPr>
        <p:spPr>
          <a:xfrm>
            <a:off x="1082043" y="1038179"/>
            <a:ext cx="9568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建议选择</a:t>
            </a:r>
            <a:r>
              <a:rPr lang="en-US" altLang="zh-CN" dirty="0"/>
              <a:t>3-5</a:t>
            </a:r>
            <a:r>
              <a:rPr lang="zh-CN" altLang="en-US" dirty="0"/>
              <a:t>个个人网约车市场比较大的省份，同步启动起来，每季度进行数据回溯。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EAE132D-9883-3003-45EA-25B1D1D5BCB6}"/>
              </a:ext>
            </a:extLst>
          </p:cNvPr>
          <p:cNvSpPr/>
          <p:nvPr/>
        </p:nvSpPr>
        <p:spPr>
          <a:xfrm>
            <a:off x="2944368" y="4041649"/>
            <a:ext cx="5028449" cy="1335024"/>
          </a:xfrm>
          <a:prstGeom prst="roundRect">
            <a:avLst/>
          </a:prstGeom>
          <a:noFill/>
          <a:ln>
            <a:solidFill>
              <a:srgbClr val="FF0000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B667C85-7547-807F-ECBC-B62FD9AC147A}"/>
              </a:ext>
            </a:extLst>
          </p:cNvPr>
          <p:cNvSpPr txBox="1"/>
          <p:nvPr/>
        </p:nvSpPr>
        <p:spPr>
          <a:xfrm>
            <a:off x="4979096" y="4909179"/>
            <a:ext cx="1269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交叉持股</a:t>
            </a:r>
          </a:p>
        </p:txBody>
      </p:sp>
    </p:spTree>
    <p:extLst>
      <p:ext uri="{BB962C8B-B14F-4D97-AF65-F5344CB8AC3E}">
        <p14:creationId xmlns:p14="http://schemas.microsoft.com/office/powerpoint/2010/main" val="12350872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/>
          <p:cNvSpPr>
            <a:spLocks noGrp="1"/>
          </p:cNvSpPr>
          <p:nvPr>
            <p:ph type="title"/>
          </p:nvPr>
        </p:nvSpPr>
        <p:spPr>
          <a:xfrm>
            <a:off x="660400" y="1852228"/>
            <a:ext cx="5532931" cy="2573034"/>
          </a:xfrm>
        </p:spPr>
        <p:txBody>
          <a:bodyPr>
            <a:normAutofit/>
          </a:bodyPr>
          <a:lstStyle/>
          <a:p>
            <a:pPr algn="ctr"/>
            <a:r>
              <a:rPr lang="zh-CN" altLang="en-US" b="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+mn-ea"/>
              </a:rPr>
              <a:t>谢 谢</a:t>
            </a:r>
            <a:endParaRPr lang="en-US" b="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楷体" panose="02010609060101010101" pitchFamily="49" charset="-122"/>
              <a:cs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2D659E"/>
      </a:accent1>
      <a:accent2>
        <a:srgbClr val="A1ADDD"/>
      </a:accent2>
      <a:accent3>
        <a:srgbClr val="5784D6"/>
      </a:accent3>
      <a:accent4>
        <a:srgbClr val="92B9E0"/>
      </a:accent4>
      <a:accent5>
        <a:srgbClr val="89898C"/>
      </a:accent5>
      <a:accent6>
        <a:srgbClr val="5D5D61"/>
      </a:accent6>
      <a:hlink>
        <a:srgbClr val="4472C4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iSlide#1d35fd4f-612f-47eb-ba29-f86f29c77d12</Template>
  <TotalTime>941</TotalTime>
  <Words>569</Words>
  <Application>Microsoft Office PowerPoint</Application>
  <PresentationFormat>宽屏</PresentationFormat>
  <Paragraphs>138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等线</vt:lpstr>
      <vt:lpstr>楷体</vt:lpstr>
      <vt:lpstr>思源黑体 CN Bold</vt:lpstr>
      <vt:lpstr>微软雅黑</vt:lpstr>
      <vt:lpstr>Arial</vt:lpstr>
      <vt:lpstr>Calibri</vt:lpstr>
      <vt:lpstr>Times New Roman</vt:lpstr>
      <vt:lpstr>Wingdings</vt:lpstr>
      <vt:lpstr>Designed by iSlide</vt:lpstr>
      <vt:lpstr>网约车风险解决方案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谢 谢</vt:lpstr>
    </vt:vector>
  </TitlesOfParts>
  <Manager>iSlide</Manager>
  <Company>iSlide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 PowerPoint Standard Template</dc:title>
  <dc:creator>iSlide</dc:creator>
  <cp:lastModifiedBy>Lenovo</cp:lastModifiedBy>
  <cp:revision>134</cp:revision>
  <cp:lastPrinted>2023-06-11T16:00:00Z</cp:lastPrinted>
  <dcterms:created xsi:type="dcterms:W3CDTF">2023-06-11T16:00:00Z</dcterms:created>
  <dcterms:modified xsi:type="dcterms:W3CDTF">2025-12-11T05:17:38Z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1d35fd4f-612f-47eb-ba29-f86f29c77d12</vt:lpwstr>
  </property>
  <property fmtid="{D5CDD505-2E9C-101B-9397-08002B2CF9AE}" pid="3" name="ICV">
    <vt:lpwstr>E4E3C65FE55D42CAAF21648BAB5CDABA_12</vt:lpwstr>
  </property>
  <property fmtid="{D5CDD505-2E9C-101B-9397-08002B2CF9AE}" pid="4" name="KSOProductBuildVer">
    <vt:lpwstr>2052-12.1.0.19302</vt:lpwstr>
  </property>
</Properties>
</file>